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ja-JP" sz="4400" spc="-1" strike="noStrike">
                <a:solidFill>
                  <a:srgbClr val="000000"/>
                </a:solidFill>
                <a:latin typeface="Arial"/>
              </a:rPr>
              <a:t>クリックしてスライドを移動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クリックしてノートの書式を編集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JP"/>
              </a:rPr>
              <a:t>&lt;ヘッダー&gt;</a:t>
            </a:r>
            <a:endParaRPr b="0" lang="en-US" sz="1400" spc="-1" strike="noStrike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JP"/>
              </a:rPr>
              <a:t>&lt;日付/時刻&gt;</a:t>
            </a:r>
            <a:endParaRPr b="0" lang="en-US" sz="1400" spc="-1" strike="noStrike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JP"/>
              </a:rPr>
              <a:t>&lt;フッター&gt;</a:t>
            </a:r>
            <a:endParaRPr b="0" lang="en-US" sz="1400" spc="-1" strike="noStrike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 algn="r">
              <a:buNone/>
            </a:pPr>
            <a:fld id="{7426D55F-C38D-406E-9C00-A0B5E26A1557}" type="slidenum">
              <a:rPr b="0" lang="en-US" sz="1400" spc="-1" strike="noStrike">
                <a:solidFill>
                  <a:srgbClr val="000000"/>
                </a:solidFill>
                <a:latin typeface="Noto Serif JP"/>
              </a:rPr>
              <a:t>&lt;番号&gt;</a:t>
            </a:fld>
            <a:endParaRPr b="0" lang="en-US" sz="14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FC34DB-925C-4643-A65F-EDB5742E424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F8ED60-3786-4575-8CB3-5604788CEB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CBFD91-B3C6-4057-BF28-65CF949A032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5283D8-F576-49AE-A8A1-96C8728757E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&lt;番号&gt;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766E52-1C8C-4289-BCAD-B413BF658F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&lt;番号&gt;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28B69B-1A03-4F8F-AC31-AB45F2DBB31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&lt;番号&gt;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B97730-6A33-4DB8-9614-D610B90B17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&lt;番号&gt;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2E37BE-DCA9-4297-8623-E100267242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&lt;番号&gt;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D939C0-F6A9-455A-98BE-0F33BD4418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&lt;番号&gt;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6C9D81-0A13-420E-A08A-414C597BE7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&lt;番号&gt;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B0545C-1B98-4FC0-B1BD-72E9CA8528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&lt;番号&gt;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4EEF85-B8E0-452F-8E0B-D3E18E024A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&lt;番号&gt;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956A19-2D99-4D81-A4C4-006A753604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&lt;番号&gt;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7C8507-04AF-4F32-8239-C8C9CCE625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&lt;番号&gt;</a:t>
            </a:fld>
            <a:endParaRPr b="0" lang="en-US" sz="1200" spc="-1" strike="noStrike">
              <a:solidFill>
                <a:srgbClr val="000000"/>
              </a:solidFill>
              <a:latin typeface="Noto Serif JP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ja-JP" sz="4400" spc="-1" strike="noStrike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pc="-1" strike="noStrike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ja-JP" sz="2800" spc="-1" strike="noStrike">
                <a:solidFill>
                  <a:srgbClr val="000000"/>
                </a:solidFill>
                <a:latin typeface="Arial"/>
              </a:rPr>
              <a:t>レベル目のアウトライン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ja-JP" sz="2400" spc="-1" strike="noStrike">
                <a:solidFill>
                  <a:srgbClr val="000000"/>
                </a:solidFill>
                <a:latin typeface="Arial"/>
              </a:rPr>
              <a:t>レベル目のアウトライン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レベル目のアウトライン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レベル目のアウトライン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レベル目のアウトライン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レベル目のアウトライン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669280" y="0"/>
            <a:ext cx="3474000" cy="51429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720840" y="1371600"/>
            <a:ext cx="1188000" cy="1188000"/>
          </a:xfrm>
          <a:prstGeom prst="rect">
            <a:avLst/>
          </a:prstGeom>
          <a:solidFill>
            <a:srgbClr val="0891b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720840" y="1371600"/>
            <a:ext cx="11880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M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31520" y="118872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3200" spc="-1" strike="noStrike">
                <a:solidFill>
                  <a:srgbClr val="ffffff"/>
                </a:solidFill>
                <a:latin typeface="Calibri"/>
                <a:ea typeface="Calibri"/>
              </a:rPr>
              <a:t>マニュアル作成アプリ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31520" y="182880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2200" spc="-1" strike="noStrike">
                <a:solidFill>
                  <a:srgbClr val="0891b2"/>
                </a:solidFill>
                <a:latin typeface="Calibri"/>
                <a:ea typeface="Calibri"/>
              </a:rPr>
              <a:t>画面仕様書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31520" y="256032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1400" spc="-1" strike="noStrike">
                <a:solidFill>
                  <a:srgbClr val="cadcfc"/>
                </a:solidFill>
                <a:latin typeface="Calibri"/>
                <a:ea typeface="Calibri"/>
              </a:rPr>
              <a:t>業務マニュアルをスマホで簡単に作成・管理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731520" y="438912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8896a7"/>
                </a:solidFill>
                <a:latin typeface="Calibri"/>
                <a:ea typeface="Calibri"/>
              </a:rPr>
              <a:t>ご提出日</a:t>
            </a:r>
            <a:r>
              <a:rPr b="0" lang="en-US" sz="1100" spc="-1" strike="noStrike">
                <a:solidFill>
                  <a:srgbClr val="8896a7"/>
                </a:solidFill>
                <a:latin typeface="Calibri"/>
                <a:ea typeface="Calibri"/>
              </a:rPr>
              <a:t>: 2026</a:t>
            </a:r>
            <a:r>
              <a:rPr b="0" lang="ja-JP" sz="1100" spc="-1" strike="noStrike">
                <a:solidFill>
                  <a:srgbClr val="8896a7"/>
                </a:solidFill>
                <a:latin typeface="Calibri"/>
                <a:ea typeface="Calibri"/>
              </a:rPr>
              <a:t>年</a:t>
            </a:r>
            <a:r>
              <a:rPr b="0" lang="en-US" sz="1100" spc="-1" strike="noStrike">
                <a:solidFill>
                  <a:srgbClr val="8896a7"/>
                </a:solidFill>
                <a:latin typeface="Calibri"/>
                <a:ea typeface="Calibri"/>
              </a:rPr>
              <a:t>4</a:t>
            </a:r>
            <a:r>
              <a:rPr b="0" lang="ja-JP" sz="1100" spc="-1" strike="noStrike">
                <a:solidFill>
                  <a:srgbClr val="8896a7"/>
                </a:solidFill>
                <a:latin typeface="Calibri"/>
                <a:ea typeface="Calibri"/>
              </a:rPr>
              <a:t>月</a:t>
            </a:r>
            <a:r>
              <a:rPr b="0" lang="en-US" sz="1100" spc="-1" strike="noStrike">
                <a:solidFill>
                  <a:srgbClr val="8896a7"/>
                </a:solidFill>
                <a:latin typeface="Calibri"/>
                <a:ea typeface="Calibri"/>
              </a:rPr>
              <a:t>16</a:t>
            </a:r>
            <a:r>
              <a:rPr b="0" lang="ja-JP" sz="1100" spc="-1" strike="noStrike">
                <a:solidFill>
                  <a:srgbClr val="8896a7"/>
                </a:solidFill>
                <a:latin typeface="Calibri"/>
                <a:ea typeface="Calibri"/>
              </a:rPr>
              <a:t>日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アプリの概要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548640" y="100584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600" spc="-1" strike="noStrike">
                <a:solidFill>
                  <a:srgbClr val="1e2761"/>
                </a:solidFill>
                <a:latin typeface="Calibri"/>
                <a:ea typeface="Calibri"/>
              </a:rPr>
              <a:t>このアプリでできること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548640" y="1463040"/>
            <a:ext cx="2559600" cy="191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548640" y="1463040"/>
            <a:ext cx="2559600" cy="540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685800" y="160020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685800" y="210312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1a1f36"/>
                </a:solidFill>
                <a:latin typeface="Calibri"/>
                <a:ea typeface="Calibri"/>
              </a:rPr>
              <a:t>テンプレートで簡単作成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685800" y="2468880"/>
            <a:ext cx="22852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業種に合ったテンプレートを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選ぶだけで、すぐに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マニュアル作成を開始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9"/>
          <p:cNvSpPr/>
          <p:nvPr/>
        </p:nvSpPr>
        <p:spPr>
          <a:xfrm>
            <a:off x="3383280" y="1463040"/>
            <a:ext cx="2559600" cy="191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3383280" y="1463040"/>
            <a:ext cx="2559600" cy="54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3520440" y="160020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📷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3520440" y="210312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1a1f36"/>
                </a:solidFill>
                <a:latin typeface="Calibri"/>
                <a:ea typeface="Calibri"/>
              </a:rPr>
              <a:t>写真をそのまま貼り付け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3520440" y="2468880"/>
            <a:ext cx="22852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スマホのカメラで撮影して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そのままマニュアルに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貼り付けられます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6217920" y="1463040"/>
            <a:ext cx="2559600" cy="191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5"/>
          <p:cNvSpPr/>
          <p:nvPr/>
        </p:nvSpPr>
        <p:spPr>
          <a:xfrm>
            <a:off x="6217920" y="1463040"/>
            <a:ext cx="2559600" cy="54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6355080" y="160020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📄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6355080" y="210312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PDF</a:t>
            </a:r>
            <a:r>
              <a:rPr b="1" lang="ja-JP" sz="1300" spc="-1" strike="noStrike">
                <a:solidFill>
                  <a:srgbClr val="1a1f36"/>
                </a:solidFill>
                <a:latin typeface="Calibri"/>
                <a:ea typeface="Calibri"/>
              </a:rPr>
              <a:t>で出力・印刷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6355080" y="2468880"/>
            <a:ext cx="22852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完成したマニュアルは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a4560"/>
                </a:solidFill>
                <a:latin typeface="Calibri"/>
                <a:ea typeface="Calibri"/>
              </a:rPr>
              <a:t>PDF</a:t>
            </a: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で保存したり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そのまま印刷できます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548640" y="361188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400" spc="-1" strike="noStrike">
                <a:solidFill>
                  <a:srgbClr val="1e2761"/>
                </a:solidFill>
                <a:latin typeface="Calibri"/>
                <a:ea typeface="Calibri"/>
              </a:rPr>
              <a:t>アプリの特徴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20"/>
          <p:cNvSpPr/>
          <p:nvPr/>
        </p:nvSpPr>
        <p:spPr>
          <a:xfrm>
            <a:off x="548640" y="3977640"/>
            <a:ext cx="8046000" cy="867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731520" y="4041720"/>
            <a:ext cx="365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2"/>
          <p:cNvSpPr/>
          <p:nvPr/>
        </p:nvSpPr>
        <p:spPr>
          <a:xfrm>
            <a:off x="1097280" y="4041720"/>
            <a:ext cx="2193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スマホのホーム画面に追加して、アプリのように使えます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3"/>
          <p:cNvSpPr/>
          <p:nvPr/>
        </p:nvSpPr>
        <p:spPr>
          <a:xfrm>
            <a:off x="3429000" y="4041720"/>
            <a:ext cx="365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✈️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4"/>
          <p:cNvSpPr/>
          <p:nvPr/>
        </p:nvSpPr>
        <p:spPr>
          <a:xfrm>
            <a:off x="3794760" y="4041720"/>
            <a:ext cx="2193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インターネット接続なしでも使えます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全体の画面の流れ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548640" y="100584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ja-JP" sz="1300" spc="-1" strike="noStrike">
                <a:solidFill>
                  <a:srgbClr val="0891b2"/>
                </a:solidFill>
                <a:latin typeface="Calibri"/>
                <a:ea typeface="Calibri"/>
              </a:rPr>
              <a:t>最短</a:t>
            </a:r>
            <a:r>
              <a:rPr b="0" i="1" lang="en-US" sz="1300" spc="-1" strike="noStrike">
                <a:solidFill>
                  <a:srgbClr val="0891b2"/>
                </a:solidFill>
                <a:latin typeface="Calibri"/>
                <a:ea typeface="Calibri"/>
              </a:rPr>
              <a:t>3</a:t>
            </a:r>
            <a:r>
              <a:rPr b="0" i="1" lang="ja-JP" sz="1300" spc="-1" strike="noStrike">
                <a:solidFill>
                  <a:srgbClr val="0891b2"/>
                </a:solidFill>
                <a:latin typeface="Calibri"/>
                <a:ea typeface="Calibri"/>
              </a:rPr>
              <a:t>ステップでマニュアル作成を開始できます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548640" y="146304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200" spc="-1" strike="noStrike">
                <a:solidFill>
                  <a:srgbClr val="1e2761"/>
                </a:solidFill>
                <a:latin typeface="Calibri"/>
                <a:ea typeface="Calibri"/>
              </a:rPr>
              <a:t>新規作成の流れ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5"/>
          <p:cNvSpPr/>
          <p:nvPr/>
        </p:nvSpPr>
        <p:spPr>
          <a:xfrm>
            <a:off x="548640" y="1828800"/>
            <a:ext cx="1416600" cy="118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548640" y="1828800"/>
            <a:ext cx="1416600" cy="540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548640" y="1938600"/>
            <a:ext cx="1416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🏠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594360" y="237744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ホーム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594360" y="260604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800" spc="-1" strike="noStrike">
                <a:solidFill>
                  <a:srgbClr val="8896a7"/>
                </a:solidFill>
                <a:latin typeface="Calibri"/>
                <a:ea typeface="Calibri"/>
              </a:rPr>
              <a:t>アプリを開く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1965960" y="214884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891b2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1"/>
          <p:cNvSpPr/>
          <p:nvPr/>
        </p:nvSpPr>
        <p:spPr>
          <a:xfrm>
            <a:off x="2240280" y="1828800"/>
            <a:ext cx="1416600" cy="118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2240280" y="1828800"/>
            <a:ext cx="1416600" cy="540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2240280" y="1938600"/>
            <a:ext cx="1416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🏭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2286000" y="237744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業種を選ぶ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2286000" y="260604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800" spc="-1" strike="noStrike">
                <a:solidFill>
                  <a:srgbClr val="8896a7"/>
                </a:solidFill>
                <a:latin typeface="Calibri"/>
                <a:ea typeface="Calibri"/>
              </a:rPr>
              <a:t>飲食・製造 等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3657600" y="214884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891b2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7"/>
          <p:cNvSpPr/>
          <p:nvPr/>
        </p:nvSpPr>
        <p:spPr>
          <a:xfrm>
            <a:off x="3931920" y="1828800"/>
            <a:ext cx="1416600" cy="118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3931920" y="1828800"/>
            <a:ext cx="1416600" cy="540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3931920" y="1938600"/>
            <a:ext cx="1416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3977640" y="237744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テンプレを選ぶ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3977640" y="260604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800" spc="-1" strike="noStrike">
                <a:solidFill>
                  <a:srgbClr val="8896a7"/>
                </a:solidFill>
                <a:latin typeface="Calibri"/>
                <a:ea typeface="Calibri"/>
              </a:rPr>
              <a:t>手順書 等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2"/>
          <p:cNvSpPr/>
          <p:nvPr/>
        </p:nvSpPr>
        <p:spPr>
          <a:xfrm>
            <a:off x="5349240" y="214884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891b2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23"/>
          <p:cNvSpPr/>
          <p:nvPr/>
        </p:nvSpPr>
        <p:spPr>
          <a:xfrm>
            <a:off x="5623560" y="1828800"/>
            <a:ext cx="1416600" cy="118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24"/>
          <p:cNvSpPr/>
          <p:nvPr/>
        </p:nvSpPr>
        <p:spPr>
          <a:xfrm>
            <a:off x="5623560" y="1828800"/>
            <a:ext cx="1416600" cy="54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5623560" y="1938600"/>
            <a:ext cx="1416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✏️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5669280" y="237744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編集する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7"/>
          <p:cNvSpPr/>
          <p:nvPr/>
        </p:nvSpPr>
        <p:spPr>
          <a:xfrm>
            <a:off x="5669280" y="260604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800" spc="-1" strike="noStrike">
                <a:solidFill>
                  <a:srgbClr val="8896a7"/>
                </a:solidFill>
                <a:latin typeface="Calibri"/>
                <a:ea typeface="Calibri"/>
              </a:rPr>
              <a:t>写真・文字を追加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8"/>
          <p:cNvSpPr/>
          <p:nvPr/>
        </p:nvSpPr>
        <p:spPr>
          <a:xfrm>
            <a:off x="7040880" y="214884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891b2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29"/>
          <p:cNvSpPr/>
          <p:nvPr/>
        </p:nvSpPr>
        <p:spPr>
          <a:xfrm>
            <a:off x="7315200" y="1828800"/>
            <a:ext cx="1416600" cy="118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30"/>
          <p:cNvSpPr/>
          <p:nvPr/>
        </p:nvSpPr>
        <p:spPr>
          <a:xfrm>
            <a:off x="7315200" y="1828800"/>
            <a:ext cx="1416600" cy="540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31"/>
          <p:cNvSpPr/>
          <p:nvPr/>
        </p:nvSpPr>
        <p:spPr>
          <a:xfrm>
            <a:off x="7315200" y="1938600"/>
            <a:ext cx="1416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📄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32"/>
          <p:cNvSpPr/>
          <p:nvPr/>
        </p:nvSpPr>
        <p:spPr>
          <a:xfrm>
            <a:off x="7360920" y="237744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1f36"/>
                </a:solidFill>
                <a:latin typeface="Calibri"/>
                <a:ea typeface="Calibri"/>
              </a:rPr>
              <a:t>PDF</a:t>
            </a: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出力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33"/>
          <p:cNvSpPr/>
          <p:nvPr/>
        </p:nvSpPr>
        <p:spPr>
          <a:xfrm>
            <a:off x="7360920" y="260604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800" spc="-1" strike="noStrike">
                <a:solidFill>
                  <a:srgbClr val="8896a7"/>
                </a:solidFill>
                <a:latin typeface="Calibri"/>
                <a:ea typeface="Calibri"/>
              </a:rPr>
              <a:t>保存・印刷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34"/>
          <p:cNvSpPr/>
          <p:nvPr/>
        </p:nvSpPr>
        <p:spPr>
          <a:xfrm>
            <a:off x="548640" y="329184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200" spc="-1" strike="noStrike">
                <a:solidFill>
                  <a:srgbClr val="1e2761"/>
                </a:solidFill>
                <a:latin typeface="Calibri"/>
                <a:ea typeface="Calibri"/>
              </a:rPr>
              <a:t>保存済みファイルを開く場合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35"/>
          <p:cNvSpPr/>
          <p:nvPr/>
        </p:nvSpPr>
        <p:spPr>
          <a:xfrm>
            <a:off x="548640" y="3657600"/>
            <a:ext cx="1416600" cy="822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36"/>
          <p:cNvSpPr/>
          <p:nvPr/>
        </p:nvSpPr>
        <p:spPr>
          <a:xfrm>
            <a:off x="548640" y="3657600"/>
            <a:ext cx="1416600" cy="54000"/>
          </a:xfrm>
          <a:prstGeom prst="rect">
            <a:avLst/>
          </a:prstGeom>
          <a:solidFill>
            <a:srgbClr val="8896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37"/>
          <p:cNvSpPr/>
          <p:nvPr/>
        </p:nvSpPr>
        <p:spPr>
          <a:xfrm>
            <a:off x="548640" y="3730680"/>
            <a:ext cx="1416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38"/>
          <p:cNvSpPr/>
          <p:nvPr/>
        </p:nvSpPr>
        <p:spPr>
          <a:xfrm>
            <a:off x="594360" y="406908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ホーム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39"/>
          <p:cNvSpPr/>
          <p:nvPr/>
        </p:nvSpPr>
        <p:spPr>
          <a:xfrm>
            <a:off x="1965960" y="384048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896a7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40"/>
          <p:cNvSpPr/>
          <p:nvPr/>
        </p:nvSpPr>
        <p:spPr>
          <a:xfrm>
            <a:off x="2240280" y="3657600"/>
            <a:ext cx="1416600" cy="822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41"/>
          <p:cNvSpPr/>
          <p:nvPr/>
        </p:nvSpPr>
        <p:spPr>
          <a:xfrm>
            <a:off x="2240280" y="3657600"/>
            <a:ext cx="1416600" cy="54000"/>
          </a:xfrm>
          <a:prstGeom prst="rect">
            <a:avLst/>
          </a:prstGeom>
          <a:solidFill>
            <a:srgbClr val="8896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42"/>
          <p:cNvSpPr/>
          <p:nvPr/>
        </p:nvSpPr>
        <p:spPr>
          <a:xfrm>
            <a:off x="2240280" y="3730680"/>
            <a:ext cx="1416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43"/>
          <p:cNvSpPr/>
          <p:nvPr/>
        </p:nvSpPr>
        <p:spPr>
          <a:xfrm>
            <a:off x="2286000" y="406908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ファイルを選ぶ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44"/>
          <p:cNvSpPr/>
          <p:nvPr/>
        </p:nvSpPr>
        <p:spPr>
          <a:xfrm>
            <a:off x="3657600" y="384048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896a7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45"/>
          <p:cNvSpPr/>
          <p:nvPr/>
        </p:nvSpPr>
        <p:spPr>
          <a:xfrm>
            <a:off x="3931920" y="3657600"/>
            <a:ext cx="1416600" cy="822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46"/>
          <p:cNvSpPr/>
          <p:nvPr/>
        </p:nvSpPr>
        <p:spPr>
          <a:xfrm>
            <a:off x="3931920" y="3657600"/>
            <a:ext cx="1416600" cy="54000"/>
          </a:xfrm>
          <a:prstGeom prst="rect">
            <a:avLst/>
          </a:prstGeom>
          <a:solidFill>
            <a:srgbClr val="8896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47"/>
          <p:cNvSpPr/>
          <p:nvPr/>
        </p:nvSpPr>
        <p:spPr>
          <a:xfrm>
            <a:off x="3931920" y="3730680"/>
            <a:ext cx="1416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✏️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48"/>
          <p:cNvSpPr/>
          <p:nvPr/>
        </p:nvSpPr>
        <p:spPr>
          <a:xfrm>
            <a:off x="3977640" y="4069080"/>
            <a:ext cx="1325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編集する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9"/>
          <p:cNvSpPr/>
          <p:nvPr/>
        </p:nvSpPr>
        <p:spPr>
          <a:xfrm>
            <a:off x="548640" y="466344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6a7"/>
                </a:solidFill>
                <a:latin typeface="Calibri"/>
                <a:ea typeface="Calibri"/>
              </a:rPr>
              <a:t>※ </a:t>
            </a: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最近編集したファイルはホーム画面から直接開くこともできます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① </a:t>
            </a: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ホーム画面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548640" y="1097280"/>
            <a:ext cx="2742480" cy="365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548640" y="1097280"/>
            <a:ext cx="2742480" cy="4107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685800" y="112464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ffffff"/>
                </a:solidFill>
                <a:latin typeface="Calibri"/>
                <a:ea typeface="Calibri"/>
              </a:rPr>
              <a:t>マニュアル作成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6"/>
          <p:cNvSpPr/>
          <p:nvPr/>
        </p:nvSpPr>
        <p:spPr>
          <a:xfrm>
            <a:off x="1508760" y="1691640"/>
            <a:ext cx="639360" cy="639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1508760" y="169164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731520" y="2423160"/>
            <a:ext cx="2376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1e2761"/>
                </a:solidFill>
                <a:latin typeface="Calibri"/>
                <a:ea typeface="Calibri"/>
              </a:rPr>
              <a:t>マニュアル作成アプリ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9"/>
          <p:cNvSpPr/>
          <p:nvPr/>
        </p:nvSpPr>
        <p:spPr>
          <a:xfrm>
            <a:off x="822960" y="2788920"/>
            <a:ext cx="2010960" cy="34668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822960" y="278892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ffffff"/>
                </a:solidFill>
                <a:latin typeface="Calibri"/>
                <a:ea typeface="Calibri"/>
              </a:rPr>
              <a:t>＋ 新規作成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1"/>
          <p:cNvSpPr/>
          <p:nvPr/>
        </p:nvSpPr>
        <p:spPr>
          <a:xfrm>
            <a:off x="822960" y="3246120"/>
            <a:ext cx="2010960" cy="346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2"/>
          <p:cNvSpPr/>
          <p:nvPr/>
        </p:nvSpPr>
        <p:spPr>
          <a:xfrm>
            <a:off x="822960" y="324612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65a82"/>
                </a:solidFill>
                <a:latin typeface="Calibri"/>
                <a:ea typeface="Calibri"/>
              </a:rPr>
              <a:t>📂 </a:t>
            </a:r>
            <a:r>
              <a:rPr b="1" lang="ja-JP" sz="1000" spc="-1" strike="noStrike">
                <a:solidFill>
                  <a:srgbClr val="065a82"/>
                </a:solidFill>
                <a:latin typeface="Calibri"/>
                <a:ea typeface="Calibri"/>
              </a:rPr>
              <a:t>ファイル読み込み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822960" y="3749040"/>
            <a:ext cx="20109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800" spc="-1" strike="noStrike">
                <a:solidFill>
                  <a:srgbClr val="8896a7"/>
                </a:solidFill>
                <a:latin typeface="Calibri"/>
                <a:ea typeface="Calibri"/>
              </a:rPr>
              <a:t>最近のファイル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4"/>
          <p:cNvSpPr/>
          <p:nvPr/>
        </p:nvSpPr>
        <p:spPr>
          <a:xfrm>
            <a:off x="822960" y="3977640"/>
            <a:ext cx="2010960" cy="273600"/>
          </a:xfrm>
          <a:prstGeom prst="rect">
            <a:avLst/>
          </a:prstGeom>
          <a:solidFill>
            <a:srgbClr val="f6f8fb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5"/>
          <p:cNvSpPr/>
          <p:nvPr/>
        </p:nvSpPr>
        <p:spPr>
          <a:xfrm>
            <a:off x="868680" y="397764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3a4560"/>
                </a:solidFill>
                <a:latin typeface="Calibri"/>
                <a:ea typeface="Calibri"/>
              </a:rPr>
              <a:t>📄 </a:t>
            </a:r>
            <a:r>
              <a:rPr b="0" lang="ja-JP" sz="700" spc="-1" strike="noStrike">
                <a:solidFill>
                  <a:srgbClr val="3a4560"/>
                </a:solidFill>
                <a:latin typeface="Calibri"/>
                <a:ea typeface="Calibri"/>
              </a:rPr>
              <a:t>客室清掃マニュアル   </a:t>
            </a:r>
            <a:r>
              <a:rPr b="0" lang="en-US" sz="700" spc="-1" strike="noStrike">
                <a:solidFill>
                  <a:srgbClr val="3a4560"/>
                </a:solidFill>
                <a:latin typeface="Calibri"/>
                <a:ea typeface="Calibri"/>
              </a:rPr>
              <a:t>04/15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6"/>
          <p:cNvSpPr/>
          <p:nvPr/>
        </p:nvSpPr>
        <p:spPr>
          <a:xfrm>
            <a:off x="822960" y="4297680"/>
            <a:ext cx="2010960" cy="273600"/>
          </a:xfrm>
          <a:prstGeom prst="rect">
            <a:avLst/>
          </a:prstGeom>
          <a:solidFill>
            <a:srgbClr val="f6f8fb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7"/>
          <p:cNvSpPr/>
          <p:nvPr/>
        </p:nvSpPr>
        <p:spPr>
          <a:xfrm>
            <a:off x="868680" y="429768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3a4560"/>
                </a:solidFill>
                <a:latin typeface="Calibri"/>
                <a:ea typeface="Calibri"/>
              </a:rPr>
              <a:t>📄 </a:t>
            </a:r>
            <a:r>
              <a:rPr b="0" lang="ja-JP" sz="700" spc="-1" strike="noStrike">
                <a:solidFill>
                  <a:srgbClr val="3a4560"/>
                </a:solidFill>
                <a:latin typeface="Calibri"/>
                <a:ea typeface="Calibri"/>
              </a:rPr>
              <a:t>衛生チェックリスト   </a:t>
            </a:r>
            <a:r>
              <a:rPr b="0" lang="en-US" sz="700" spc="-1" strike="noStrike">
                <a:solidFill>
                  <a:srgbClr val="3a4560"/>
                </a:solidFill>
                <a:latin typeface="Calibri"/>
                <a:ea typeface="Calibri"/>
              </a:rPr>
              <a:t>04/14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8"/>
          <p:cNvSpPr/>
          <p:nvPr/>
        </p:nvSpPr>
        <p:spPr>
          <a:xfrm>
            <a:off x="3749040" y="1097280"/>
            <a:ext cx="4937040" cy="365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9"/>
          <p:cNvSpPr/>
          <p:nvPr/>
        </p:nvSpPr>
        <p:spPr>
          <a:xfrm>
            <a:off x="3749040" y="1097280"/>
            <a:ext cx="54000" cy="36568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0"/>
          <p:cNvSpPr/>
          <p:nvPr/>
        </p:nvSpPr>
        <p:spPr>
          <a:xfrm>
            <a:off x="4023360" y="123444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600" spc="-1" strike="noStrike">
                <a:solidFill>
                  <a:srgbClr val="1e2761"/>
                </a:solidFill>
                <a:latin typeface="Calibri"/>
                <a:ea typeface="Calibri"/>
              </a:rPr>
              <a:t>この画面でできること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21"/>
          <p:cNvSpPr/>
          <p:nvPr/>
        </p:nvSpPr>
        <p:spPr>
          <a:xfrm>
            <a:off x="4023360" y="1645920"/>
            <a:ext cx="438840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「新規作成」ボタン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新しいマニュアルの作成を開始します。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業種・テンプレートの選択画面に進みます。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「ファイル読み込み」ボタン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以前に保存したマニュアルの一覧を表示します。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タップして編集を再開できます。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最近のファイル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直近に編集した</a:t>
            </a: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5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件のファイルが表示されます。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ワンタップで前回の続きから編集を再開できます。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② </a:t>
            </a: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業種選択画面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548640" y="1097280"/>
            <a:ext cx="2742480" cy="365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548640" y="1097280"/>
            <a:ext cx="2742480" cy="4107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685800" y="112464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← </a:t>
            </a:r>
            <a:r>
              <a:rPr b="1" lang="ja-JP" sz="1000" spc="-1" strike="noStrike">
                <a:solidFill>
                  <a:srgbClr val="ffffff"/>
                </a:solidFill>
                <a:latin typeface="Calibri"/>
                <a:ea typeface="Calibri"/>
              </a:rPr>
              <a:t>業種選択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731520" y="1691640"/>
            <a:ext cx="1050840" cy="547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731520" y="1710000"/>
            <a:ext cx="1050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731520" y="1993320"/>
            <a:ext cx="1050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飲食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1965960" y="1691640"/>
            <a:ext cx="1050840" cy="547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1965960" y="1710000"/>
            <a:ext cx="1050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🏭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1965960" y="1993320"/>
            <a:ext cx="1050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製造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2"/>
          <p:cNvSpPr/>
          <p:nvPr/>
        </p:nvSpPr>
        <p:spPr>
          <a:xfrm>
            <a:off x="731520" y="2377440"/>
            <a:ext cx="1050840" cy="547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731520" y="2395800"/>
            <a:ext cx="1050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🧹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731520" y="2679120"/>
            <a:ext cx="1050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清掃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5"/>
          <p:cNvSpPr/>
          <p:nvPr/>
        </p:nvSpPr>
        <p:spPr>
          <a:xfrm>
            <a:off x="1965960" y="2377440"/>
            <a:ext cx="1050840" cy="547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1965960" y="2395800"/>
            <a:ext cx="1050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🏥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7"/>
          <p:cNvSpPr/>
          <p:nvPr/>
        </p:nvSpPr>
        <p:spPr>
          <a:xfrm>
            <a:off x="1965960" y="2679120"/>
            <a:ext cx="1050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医療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8"/>
          <p:cNvSpPr/>
          <p:nvPr/>
        </p:nvSpPr>
        <p:spPr>
          <a:xfrm>
            <a:off x="731520" y="3063240"/>
            <a:ext cx="1050840" cy="547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9"/>
          <p:cNvSpPr/>
          <p:nvPr/>
        </p:nvSpPr>
        <p:spPr>
          <a:xfrm>
            <a:off x="731520" y="3081600"/>
            <a:ext cx="1050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🏨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0"/>
          <p:cNvSpPr/>
          <p:nvPr/>
        </p:nvSpPr>
        <p:spPr>
          <a:xfrm>
            <a:off x="731520" y="3364920"/>
            <a:ext cx="1050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宿泊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21"/>
          <p:cNvSpPr/>
          <p:nvPr/>
        </p:nvSpPr>
        <p:spPr>
          <a:xfrm>
            <a:off x="1965960" y="3063240"/>
            <a:ext cx="1050840" cy="547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1965960" y="3081600"/>
            <a:ext cx="1050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🏗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1965960" y="3364920"/>
            <a:ext cx="1050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建設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24"/>
          <p:cNvSpPr/>
          <p:nvPr/>
        </p:nvSpPr>
        <p:spPr>
          <a:xfrm>
            <a:off x="731520" y="3749040"/>
            <a:ext cx="1050840" cy="547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5"/>
          <p:cNvSpPr/>
          <p:nvPr/>
        </p:nvSpPr>
        <p:spPr>
          <a:xfrm>
            <a:off x="731520" y="3767400"/>
            <a:ext cx="1050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6"/>
          <p:cNvSpPr/>
          <p:nvPr/>
        </p:nvSpPr>
        <p:spPr>
          <a:xfrm>
            <a:off x="731520" y="4050720"/>
            <a:ext cx="1050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小売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7"/>
          <p:cNvSpPr/>
          <p:nvPr/>
        </p:nvSpPr>
        <p:spPr>
          <a:xfrm>
            <a:off x="1965960" y="3749040"/>
            <a:ext cx="1050840" cy="547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8"/>
          <p:cNvSpPr/>
          <p:nvPr/>
        </p:nvSpPr>
        <p:spPr>
          <a:xfrm>
            <a:off x="1965960" y="3767400"/>
            <a:ext cx="1050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📚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29"/>
          <p:cNvSpPr/>
          <p:nvPr/>
        </p:nvSpPr>
        <p:spPr>
          <a:xfrm>
            <a:off x="1965960" y="4050720"/>
            <a:ext cx="1050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教育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30"/>
          <p:cNvSpPr/>
          <p:nvPr/>
        </p:nvSpPr>
        <p:spPr>
          <a:xfrm>
            <a:off x="3749040" y="1097280"/>
            <a:ext cx="4937040" cy="365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31"/>
          <p:cNvSpPr/>
          <p:nvPr/>
        </p:nvSpPr>
        <p:spPr>
          <a:xfrm>
            <a:off x="3749040" y="1097280"/>
            <a:ext cx="54000" cy="365688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32"/>
          <p:cNvSpPr/>
          <p:nvPr/>
        </p:nvSpPr>
        <p:spPr>
          <a:xfrm>
            <a:off x="4023360" y="123444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600" spc="-1" strike="noStrike">
                <a:solidFill>
                  <a:srgbClr val="1e2761"/>
                </a:solidFill>
                <a:latin typeface="Calibri"/>
                <a:ea typeface="Calibri"/>
              </a:rPr>
              <a:t>この画面でできること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33"/>
          <p:cNvSpPr/>
          <p:nvPr/>
        </p:nvSpPr>
        <p:spPr>
          <a:xfrm>
            <a:off x="4023360" y="1645920"/>
            <a:ext cx="438840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お客様の業種に合ったテンプレートを選べます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8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つの業種カテゴリが用意されています。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ご自身の業種をタップすると、その業種向けの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テンプレート一覧に進みます。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対応業種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60"/>
                </a:solidFill>
                <a:latin typeface="Calibri"/>
                <a:ea typeface="Calibri"/>
              </a:rPr>
              <a:t>🍽 </a:t>
            </a:r>
            <a:r>
              <a:rPr b="0" lang="ja-JP" sz="1200" spc="-1" strike="noStrike">
                <a:solidFill>
                  <a:srgbClr val="3a4560"/>
                </a:solidFill>
                <a:latin typeface="Calibri"/>
                <a:ea typeface="Calibri"/>
              </a:rPr>
              <a:t>飲食　　🏭 製造　　🧹 清掃　　🏥 医療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60"/>
                </a:solidFill>
                <a:latin typeface="Calibri"/>
                <a:ea typeface="Calibri"/>
              </a:rPr>
              <a:t>🏨 </a:t>
            </a:r>
            <a:r>
              <a:rPr b="0" lang="ja-JP" sz="1200" spc="-1" strike="noStrike">
                <a:solidFill>
                  <a:srgbClr val="3a4560"/>
                </a:solidFill>
                <a:latin typeface="Calibri"/>
                <a:ea typeface="Calibri"/>
              </a:rPr>
              <a:t>宿泊　　🏗 建設　　🛒 小売　　📚 教育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6a7"/>
                </a:solidFill>
                <a:latin typeface="Calibri"/>
                <a:ea typeface="Calibri"/>
              </a:rPr>
              <a:t>※ </a:t>
            </a: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業種カテゴリは今後の要望に応じて追加可能です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③ </a:t>
            </a: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テンプレート選択画面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548640" y="1097280"/>
            <a:ext cx="2742480" cy="365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548640" y="1097280"/>
            <a:ext cx="2742480" cy="4107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685800" y="112464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← </a:t>
            </a:r>
            <a:r>
              <a:rPr b="1" lang="ja-JP" sz="1000" spc="-1" strike="noStrike">
                <a:solidFill>
                  <a:srgbClr val="ffffff"/>
                </a:solidFill>
                <a:latin typeface="Calibri"/>
                <a:ea typeface="Calibri"/>
              </a:rPr>
              <a:t>テンプレート選択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731520" y="1645920"/>
            <a:ext cx="1828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  <a:ea typeface="Calibri"/>
              </a:rPr>
              <a:t>🍽 </a:t>
            </a:r>
            <a:r>
              <a:rPr b="0" lang="ja-JP" sz="900" spc="-1" strike="noStrike">
                <a:solidFill>
                  <a:srgbClr val="8896a7"/>
                </a:solidFill>
                <a:latin typeface="Calibri"/>
                <a:ea typeface="Calibri"/>
              </a:rPr>
              <a:t>飲食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731520" y="1965960"/>
            <a:ext cx="2376720" cy="593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777240" y="203904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1188720" y="2020680"/>
            <a:ext cx="1828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基本手順書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1188720" y="2240280"/>
            <a:ext cx="1828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800" spc="-1" strike="noStrike">
                <a:solidFill>
                  <a:srgbClr val="8896a7"/>
                </a:solidFill>
                <a:latin typeface="Calibri"/>
                <a:ea typeface="Calibri"/>
              </a:rPr>
              <a:t>写真とテキストで手順を記録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1"/>
          <p:cNvSpPr/>
          <p:nvPr/>
        </p:nvSpPr>
        <p:spPr>
          <a:xfrm>
            <a:off x="731520" y="2697480"/>
            <a:ext cx="2376720" cy="593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777240" y="277056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1188720" y="2752200"/>
            <a:ext cx="1828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衛生チェックリスト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1188720" y="2971800"/>
            <a:ext cx="1828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800" spc="-1" strike="noStrike">
                <a:solidFill>
                  <a:srgbClr val="8896a7"/>
                </a:solidFill>
                <a:latin typeface="Calibri"/>
                <a:ea typeface="Calibri"/>
              </a:rPr>
              <a:t>チェック欄付きリスト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5"/>
          <p:cNvSpPr/>
          <p:nvPr/>
        </p:nvSpPr>
        <p:spPr>
          <a:xfrm>
            <a:off x="731520" y="3429000"/>
            <a:ext cx="2376720" cy="593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777240" y="350208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🍳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1188720" y="3483720"/>
            <a:ext cx="1828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レシピカード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8"/>
          <p:cNvSpPr/>
          <p:nvPr/>
        </p:nvSpPr>
        <p:spPr>
          <a:xfrm>
            <a:off x="1188720" y="3703320"/>
            <a:ext cx="1828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800" spc="-1" strike="noStrike">
                <a:solidFill>
                  <a:srgbClr val="8896a7"/>
                </a:solidFill>
                <a:latin typeface="Calibri"/>
                <a:ea typeface="Calibri"/>
              </a:rPr>
              <a:t>写真付きレシピテンプレート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9"/>
          <p:cNvSpPr/>
          <p:nvPr/>
        </p:nvSpPr>
        <p:spPr>
          <a:xfrm>
            <a:off x="3749040" y="1097280"/>
            <a:ext cx="4937040" cy="365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0"/>
          <p:cNvSpPr/>
          <p:nvPr/>
        </p:nvSpPr>
        <p:spPr>
          <a:xfrm>
            <a:off x="3749040" y="1097280"/>
            <a:ext cx="54000" cy="365688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4023360" y="123444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600" spc="-1" strike="noStrike">
                <a:solidFill>
                  <a:srgbClr val="1e2761"/>
                </a:solidFill>
                <a:latin typeface="Calibri"/>
                <a:ea typeface="Calibri"/>
              </a:rPr>
              <a:t>この画面でできること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2"/>
          <p:cNvSpPr/>
          <p:nvPr/>
        </p:nvSpPr>
        <p:spPr>
          <a:xfrm>
            <a:off x="4023360" y="1645920"/>
            <a:ext cx="438840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業種ごとに用意されたテンプレートから選べます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各テンプレートにはあらかじめレイアウト枠が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設定されているので、写真や文字を入れるだけで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きれいなマニュアルが完成します。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テンプレート例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3a4560"/>
              </a:buClr>
              <a:buFont typeface="Symbol"/>
              <a:buChar char=""/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飲食</a:t>
            </a: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: 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基本手順書 </a:t>
            </a: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/ 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衛生チェックリスト </a:t>
            </a: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/ 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レシピカード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3a4560"/>
              </a:buClr>
              <a:buFont typeface="Symbol"/>
              <a:buChar char=""/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清掃</a:t>
            </a: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: 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清掃手順書 </a:t>
            </a: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/ 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点検チェックリスト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3a4560"/>
              </a:buClr>
              <a:buFont typeface="Symbol"/>
              <a:buChar char=""/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製造</a:t>
            </a: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: 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作業標準書 </a:t>
            </a: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/ 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安全確認リスト </a:t>
            </a: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/ 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品質検査シート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6a7"/>
                </a:solidFill>
                <a:latin typeface="Calibri"/>
                <a:ea typeface="Calibri"/>
              </a:rPr>
              <a:t>※ </a:t>
            </a: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テンプレートは今後の要望に応じて追加・変更が可能です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④ </a:t>
            </a: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マニュアル編集画面（全体像）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548640" y="100584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ja-JP" sz="1300" spc="-1" strike="noStrike">
                <a:solidFill>
                  <a:srgbClr val="0891b2"/>
                </a:solidFill>
                <a:latin typeface="Calibri"/>
                <a:ea typeface="Calibri"/>
              </a:rPr>
              <a:t>この画面がアプリの中心です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4"/>
          <p:cNvSpPr/>
          <p:nvPr/>
        </p:nvSpPr>
        <p:spPr>
          <a:xfrm>
            <a:off x="548640" y="1417320"/>
            <a:ext cx="3474000" cy="502200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685800" y="1463040"/>
            <a:ext cx="3199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900" spc="-1" strike="noStrike">
                <a:solidFill>
                  <a:srgbClr val="ffffff"/>
                </a:solidFill>
                <a:latin typeface="Calibri"/>
                <a:ea typeface="Calibri"/>
              </a:rPr>
              <a:t>タイトル入力 </a:t>
            </a: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/ </a:t>
            </a:r>
            <a:r>
              <a:rPr b="0" lang="ja-JP" sz="900" spc="-1" strike="noStrike">
                <a:solidFill>
                  <a:srgbClr val="ffffff"/>
                </a:solidFill>
                <a:latin typeface="Calibri"/>
                <a:ea typeface="Calibri"/>
              </a:rPr>
              <a:t>保存ボタン </a:t>
            </a: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/ PDF</a:t>
            </a:r>
            <a:r>
              <a:rPr b="0" lang="ja-JP" sz="900" spc="-1" strike="noStrike">
                <a:solidFill>
                  <a:srgbClr val="ffffff"/>
                </a:solidFill>
                <a:latin typeface="Calibri"/>
                <a:ea typeface="Calibri"/>
              </a:rPr>
              <a:t>出力ボタン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548640" y="2011680"/>
            <a:ext cx="3474000" cy="502200"/>
          </a:xfrm>
          <a:prstGeom prst="rect">
            <a:avLst/>
          </a:prstGeom>
          <a:solidFill>
            <a:srgbClr val="065a82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685800" y="2057400"/>
            <a:ext cx="3199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900" spc="-1" strike="noStrike">
                <a:solidFill>
                  <a:srgbClr val="ffffff"/>
                </a:solidFill>
                <a:latin typeface="Calibri"/>
                <a:ea typeface="Calibri"/>
              </a:rPr>
              <a:t>写真追加 </a:t>
            </a: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/ </a:t>
            </a:r>
            <a:r>
              <a:rPr b="0" lang="ja-JP" sz="900" spc="-1" strike="noStrike">
                <a:solidFill>
                  <a:srgbClr val="ffffff"/>
                </a:solidFill>
                <a:latin typeface="Calibri"/>
                <a:ea typeface="Calibri"/>
              </a:rPr>
              <a:t>テキスト追加 </a:t>
            </a: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/ </a:t>
            </a:r>
            <a:r>
              <a:rPr b="0" lang="ja-JP" sz="900" spc="-1" strike="noStrike">
                <a:solidFill>
                  <a:srgbClr val="ffffff"/>
                </a:solidFill>
                <a:latin typeface="Calibri"/>
                <a:ea typeface="Calibri"/>
              </a:rPr>
              <a:t>拡大・縮小 </a:t>
            </a: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/ </a:t>
            </a:r>
            <a:r>
              <a:rPr b="0" lang="ja-JP" sz="900" spc="-1" strike="noStrike">
                <a:solidFill>
                  <a:srgbClr val="ffffff"/>
                </a:solidFill>
                <a:latin typeface="Calibri"/>
                <a:ea typeface="Calibri"/>
              </a:rPr>
              <a:t>元に戻す </a:t>
            </a: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/ </a:t>
            </a:r>
            <a:r>
              <a:rPr b="0" lang="ja-JP" sz="900" spc="-1" strike="noStrike">
                <a:solidFill>
                  <a:srgbClr val="ffffff"/>
                </a:solidFill>
                <a:latin typeface="Calibri"/>
                <a:ea typeface="Calibri"/>
              </a:rPr>
              <a:t>削除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8"/>
          <p:cNvSpPr/>
          <p:nvPr/>
        </p:nvSpPr>
        <p:spPr>
          <a:xfrm>
            <a:off x="548640" y="2606040"/>
            <a:ext cx="3474000" cy="1462320"/>
          </a:xfrm>
          <a:prstGeom prst="rect">
            <a:avLst/>
          </a:prstGeom>
          <a:solidFill>
            <a:srgbClr val="e8f4f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685800" y="2651760"/>
            <a:ext cx="31996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マニュアルの編集エリア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（紙のイメージ。写真や文字を自由に配置）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548640" y="4160520"/>
            <a:ext cx="3474000" cy="502200"/>
          </a:xfrm>
          <a:prstGeom prst="rect">
            <a:avLst/>
          </a:prstGeom>
          <a:solidFill>
            <a:srgbClr val="f6f8fb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685800" y="4206240"/>
            <a:ext cx="3199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900" spc="-1" strike="noStrike">
                <a:solidFill>
                  <a:srgbClr val="3a4560"/>
                </a:solidFill>
                <a:latin typeface="Calibri"/>
                <a:ea typeface="Calibri"/>
              </a:rPr>
              <a:t>ページ一覧（横スクロール）</a:t>
            </a:r>
            <a:r>
              <a:rPr b="0" lang="en-US" sz="900" spc="-1" strike="noStrike">
                <a:solidFill>
                  <a:srgbClr val="3a4560"/>
                </a:solidFill>
                <a:latin typeface="Calibri"/>
                <a:ea typeface="Calibri"/>
              </a:rPr>
              <a:t>/ </a:t>
            </a:r>
            <a:r>
              <a:rPr b="0" lang="ja-JP" sz="900" spc="-1" strike="noStrike">
                <a:solidFill>
                  <a:srgbClr val="3a4560"/>
                </a:solidFill>
                <a:latin typeface="Calibri"/>
                <a:ea typeface="Calibri"/>
              </a:rPr>
              <a:t>ページ追加ボタン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2"/>
          <p:cNvSpPr/>
          <p:nvPr/>
        </p:nvSpPr>
        <p:spPr>
          <a:xfrm>
            <a:off x="4480560" y="1417320"/>
            <a:ext cx="4205520" cy="3245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3"/>
          <p:cNvSpPr/>
          <p:nvPr/>
        </p:nvSpPr>
        <p:spPr>
          <a:xfrm>
            <a:off x="4480560" y="1417320"/>
            <a:ext cx="54000" cy="32454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4"/>
          <p:cNvSpPr/>
          <p:nvPr/>
        </p:nvSpPr>
        <p:spPr>
          <a:xfrm>
            <a:off x="4754880" y="150876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4</a:t>
            </a:r>
            <a:r>
              <a:rPr b="1" lang="ja-JP" sz="1400" spc="-1" strike="noStrike">
                <a:solidFill>
                  <a:srgbClr val="1e2761"/>
                </a:solidFill>
                <a:latin typeface="Calibri"/>
                <a:ea typeface="Calibri"/>
              </a:rPr>
              <a:t>つのエリアで構成されています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5"/>
          <p:cNvSpPr/>
          <p:nvPr/>
        </p:nvSpPr>
        <p:spPr>
          <a:xfrm>
            <a:off x="4754880" y="1874520"/>
            <a:ext cx="374832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a4560"/>
                </a:solidFill>
                <a:latin typeface="Calibri"/>
                <a:ea typeface="Calibri"/>
              </a:rPr>
              <a:t>❶ </a:t>
            </a:r>
            <a:r>
              <a:rPr b="1" lang="ja-JP" sz="1200" spc="-1" strike="noStrike">
                <a:solidFill>
                  <a:srgbClr val="3a4560"/>
                </a:solidFill>
                <a:latin typeface="Calibri"/>
                <a:ea typeface="Calibri"/>
              </a:rPr>
              <a:t>上部バー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マニュアルのタイトルを入力。保存や</a:t>
            </a:r>
            <a:r>
              <a:rPr b="0" lang="en-US" sz="1000" spc="-1" strike="noStrike">
                <a:solidFill>
                  <a:srgbClr val="3a4560"/>
                </a:solidFill>
                <a:latin typeface="Calibri"/>
                <a:ea typeface="Calibri"/>
              </a:rPr>
              <a:t>PDF</a:t>
            </a: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出力もここから。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a4560"/>
                </a:solidFill>
                <a:latin typeface="Calibri"/>
                <a:ea typeface="Calibri"/>
              </a:rPr>
              <a:t>❷ </a:t>
            </a:r>
            <a:r>
              <a:rPr b="1" lang="ja-JP" sz="1200" spc="-1" strike="noStrike">
                <a:solidFill>
                  <a:srgbClr val="3a4560"/>
                </a:solidFill>
                <a:latin typeface="Calibri"/>
                <a:ea typeface="Calibri"/>
              </a:rPr>
              <a:t>操作ボタン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写真の追加、文字の追加、拡大・縮小、操作を戻す　などの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操作ボタンが並んでいます。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a4560"/>
                </a:solidFill>
                <a:latin typeface="Calibri"/>
                <a:ea typeface="Calibri"/>
              </a:rPr>
              <a:t>❸ </a:t>
            </a:r>
            <a:r>
              <a:rPr b="1" lang="ja-JP" sz="1200" spc="-1" strike="noStrike">
                <a:solidFill>
                  <a:srgbClr val="3a4560"/>
                </a:solidFill>
                <a:latin typeface="Calibri"/>
                <a:ea typeface="Calibri"/>
              </a:rPr>
              <a:t>編集エリア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紙のイメージで表示。写真や文字を自由に配置できます。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a4560"/>
                </a:solidFill>
                <a:latin typeface="Calibri"/>
                <a:ea typeface="Calibri"/>
              </a:rPr>
              <a:t>❹ </a:t>
            </a:r>
            <a:r>
              <a:rPr b="1" lang="ja-JP" sz="1200" spc="-1" strike="noStrike">
                <a:solidFill>
                  <a:srgbClr val="3a4560"/>
                </a:solidFill>
                <a:latin typeface="Calibri"/>
                <a:ea typeface="Calibri"/>
              </a:rPr>
              <a:t>ページ一覧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ページの切り替え、追加ができます。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④ </a:t>
            </a: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編集画面 — 写真・テキストの操作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3"/>
          <p:cNvSpPr/>
          <p:nvPr/>
        </p:nvSpPr>
        <p:spPr>
          <a:xfrm>
            <a:off x="548640" y="1097280"/>
            <a:ext cx="3931200" cy="2010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548640" y="1097280"/>
            <a:ext cx="3931200" cy="540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731520" y="1234440"/>
            <a:ext cx="3474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📷  </a:t>
            </a:r>
            <a:r>
              <a:rPr b="1" lang="ja-JP" sz="1500" spc="-1" strike="noStrike">
                <a:solidFill>
                  <a:srgbClr val="1e2761"/>
                </a:solidFill>
                <a:latin typeface="Calibri"/>
                <a:ea typeface="Calibri"/>
              </a:rPr>
              <a:t>写真の操作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6"/>
          <p:cNvSpPr/>
          <p:nvPr/>
        </p:nvSpPr>
        <p:spPr>
          <a:xfrm>
            <a:off x="731520" y="1600200"/>
            <a:ext cx="356544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スマホのカメラで撮影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撮った写真がそのままマニュアルに貼り付けられます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写真フォルダからも選択可能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既に撮影済みの写真も使えます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指で自由に操作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大きさの変更・好きな位置への移動が可能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7"/>
          <p:cNvSpPr/>
          <p:nvPr/>
        </p:nvSpPr>
        <p:spPr>
          <a:xfrm>
            <a:off x="4754880" y="1097280"/>
            <a:ext cx="3931200" cy="2010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8"/>
          <p:cNvSpPr/>
          <p:nvPr/>
        </p:nvSpPr>
        <p:spPr>
          <a:xfrm>
            <a:off x="4754880" y="1097280"/>
            <a:ext cx="3931200" cy="54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4937760" y="1234440"/>
            <a:ext cx="3474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Aa  </a:t>
            </a:r>
            <a:r>
              <a:rPr b="1" lang="ja-JP" sz="1500" spc="-1" strike="noStrike">
                <a:solidFill>
                  <a:srgbClr val="1e2761"/>
                </a:solidFill>
                <a:latin typeface="Calibri"/>
                <a:ea typeface="Calibri"/>
              </a:rPr>
              <a:t>テキストの操作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0"/>
          <p:cNvSpPr/>
          <p:nvPr/>
        </p:nvSpPr>
        <p:spPr>
          <a:xfrm>
            <a:off x="4937760" y="1600200"/>
            <a:ext cx="356544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文字を入力して配置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手順の説明や注意書きなどを追加できます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文字の大きさを変更可能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見出しは大きく、説明は小さくなど自由に調整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好きな位置に移動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指でドラッグして配置を調整できます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1"/>
          <p:cNvSpPr/>
          <p:nvPr/>
        </p:nvSpPr>
        <p:spPr>
          <a:xfrm>
            <a:off x="548640" y="3383280"/>
            <a:ext cx="8137440" cy="1096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2"/>
          <p:cNvSpPr/>
          <p:nvPr/>
        </p:nvSpPr>
        <p:spPr>
          <a:xfrm>
            <a:off x="548640" y="3383280"/>
            <a:ext cx="8137440" cy="54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3"/>
          <p:cNvSpPr/>
          <p:nvPr/>
        </p:nvSpPr>
        <p:spPr>
          <a:xfrm>
            <a:off x="731520" y="35204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↩  </a:t>
            </a:r>
            <a:r>
              <a:rPr b="1" lang="ja-JP" sz="1500" spc="-1" strike="noStrike">
                <a:solidFill>
                  <a:srgbClr val="1e2761"/>
                </a:solidFill>
                <a:latin typeface="Calibri"/>
                <a:ea typeface="Calibri"/>
              </a:rPr>
              <a:t>便利な機能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4"/>
          <p:cNvSpPr/>
          <p:nvPr/>
        </p:nvSpPr>
        <p:spPr>
          <a:xfrm>
            <a:off x="731520" y="3886200"/>
            <a:ext cx="7771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元に戻す（やり直し）機能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操作を間違えても、ボタン一つで元の状態に戻せます。何段階でも戻せるので安心して編集できます。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④ </a:t>
            </a: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編集画面 — ページ管理・その他の操作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548640" y="1097280"/>
            <a:ext cx="4114080" cy="2102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548640" y="1097280"/>
            <a:ext cx="54000" cy="21024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777240" y="11887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📑  </a:t>
            </a:r>
            <a:r>
              <a:rPr b="1" lang="ja-JP" sz="1500" spc="-1" strike="noStrike">
                <a:solidFill>
                  <a:srgbClr val="1e2761"/>
                </a:solidFill>
                <a:latin typeface="Calibri"/>
                <a:ea typeface="Calibri"/>
              </a:rPr>
              <a:t>ページの管理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777240" y="1600200"/>
            <a:ext cx="36568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30000"/>
              </a:lnSpc>
              <a:buClr>
                <a:srgbClr val="3a4560"/>
              </a:buClr>
              <a:buFont typeface="Symbol"/>
              <a:buChar char=""/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複数ページのマニュアルを作成できます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3a4560"/>
              </a:buClr>
              <a:buFont typeface="Symbol"/>
              <a:buChar char=""/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「＋」ボタンでページを追加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3a4560"/>
              </a:buClr>
              <a:buFont typeface="Symbol"/>
              <a:buChar char=""/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不要なページは長押しで削除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3a4560"/>
              </a:buClr>
              <a:buFont typeface="Symbol"/>
              <a:buChar char=""/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画面下部のページ一覧から、見たいページに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すぐに移動できます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3a4560"/>
              </a:buClr>
              <a:buFont typeface="Symbol"/>
              <a:buChar char=""/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編集内容は「保存」ボタンで端末に保存されます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7"/>
          <p:cNvSpPr/>
          <p:nvPr/>
        </p:nvSpPr>
        <p:spPr>
          <a:xfrm>
            <a:off x="4937760" y="1097280"/>
            <a:ext cx="3748320" cy="2102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4937760" y="1097280"/>
            <a:ext cx="54000" cy="21024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9"/>
          <p:cNvSpPr/>
          <p:nvPr/>
        </p:nvSpPr>
        <p:spPr>
          <a:xfrm>
            <a:off x="5166360" y="118872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👆  </a:t>
            </a:r>
            <a:r>
              <a:rPr b="1" lang="ja-JP" sz="1500" spc="-1" strike="noStrike">
                <a:solidFill>
                  <a:srgbClr val="1e2761"/>
                </a:solidFill>
                <a:latin typeface="Calibri"/>
                <a:ea typeface="Calibri"/>
              </a:rPr>
              <a:t>選択時の操作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5166360" y="15544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写真やテキストをタップして選択すると、以下の操作ができます：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5166360" y="1965960"/>
            <a:ext cx="1188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1f36"/>
                </a:solidFill>
                <a:latin typeface="Calibri"/>
                <a:ea typeface="Calibri"/>
              </a:rPr>
              <a:t>📋 </a:t>
            </a: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コピー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2"/>
          <p:cNvSpPr/>
          <p:nvPr/>
        </p:nvSpPr>
        <p:spPr>
          <a:xfrm>
            <a:off x="6355080" y="196596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同じ写真や文字を複製します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3"/>
          <p:cNvSpPr/>
          <p:nvPr/>
        </p:nvSpPr>
        <p:spPr>
          <a:xfrm>
            <a:off x="5166360" y="2258640"/>
            <a:ext cx="1188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1f36"/>
                </a:solidFill>
                <a:latin typeface="Calibri"/>
                <a:ea typeface="Calibri"/>
              </a:rPr>
              <a:t>⬆ </a:t>
            </a: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前に出す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4"/>
          <p:cNvSpPr/>
          <p:nvPr/>
        </p:nvSpPr>
        <p:spPr>
          <a:xfrm>
            <a:off x="6355080" y="225864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重なっている場合、手前に表示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5166360" y="2551320"/>
            <a:ext cx="1188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1f36"/>
                </a:solidFill>
                <a:latin typeface="Calibri"/>
                <a:ea typeface="Calibri"/>
              </a:rPr>
              <a:t>⬇ </a:t>
            </a: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後ろに下げる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6355080" y="255132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重なっている場合、奥に表示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5166360" y="2843640"/>
            <a:ext cx="1188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1f36"/>
                </a:solidFill>
                <a:latin typeface="Calibri"/>
                <a:ea typeface="Calibri"/>
              </a:rPr>
              <a:t>🗑 </a:t>
            </a:r>
            <a:r>
              <a:rPr b="1" lang="ja-JP" sz="1000" spc="-1" strike="noStrike">
                <a:solidFill>
                  <a:srgbClr val="1a1f36"/>
                </a:solidFill>
                <a:latin typeface="Calibri"/>
                <a:ea typeface="Calibri"/>
              </a:rPr>
              <a:t>削除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8"/>
          <p:cNvSpPr/>
          <p:nvPr/>
        </p:nvSpPr>
        <p:spPr>
          <a:xfrm>
            <a:off x="6355080" y="284364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選択した要素を削除します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9"/>
          <p:cNvSpPr/>
          <p:nvPr/>
        </p:nvSpPr>
        <p:spPr>
          <a:xfrm>
            <a:off x="548640" y="3474720"/>
            <a:ext cx="8137440" cy="118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20"/>
          <p:cNvSpPr/>
          <p:nvPr/>
        </p:nvSpPr>
        <p:spPr>
          <a:xfrm>
            <a:off x="548640" y="3474720"/>
            <a:ext cx="8137440" cy="54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21"/>
          <p:cNvSpPr/>
          <p:nvPr/>
        </p:nvSpPr>
        <p:spPr>
          <a:xfrm>
            <a:off x="731520" y="36118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💡  </a:t>
            </a:r>
            <a:r>
              <a:rPr b="1" lang="ja-JP" sz="1400" spc="-1" strike="noStrike">
                <a:solidFill>
                  <a:srgbClr val="1e2761"/>
                </a:solidFill>
                <a:latin typeface="Calibri"/>
                <a:ea typeface="Calibri"/>
              </a:rPr>
              <a:t>編集画面のポイント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22"/>
          <p:cNvSpPr/>
          <p:nvPr/>
        </p:nvSpPr>
        <p:spPr>
          <a:xfrm>
            <a:off x="731520" y="3977640"/>
            <a:ext cx="7771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スマホの画面上で、紙のマニュアルを作るイメージで操作できます。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写真を撮って貼り付け、説明文を入力するだけ。直感的な操作で、特別な知識は不要です。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⑤ </a:t>
            </a: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PDF</a:t>
            </a: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出力画面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10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548640" y="1097280"/>
            <a:ext cx="2742480" cy="3199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548640" y="1097280"/>
            <a:ext cx="2742480" cy="410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685800" y="1124640"/>
            <a:ext cx="2468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f36"/>
                </a:solidFill>
                <a:latin typeface="Calibri"/>
                <a:ea typeface="Calibri"/>
              </a:rPr>
              <a:t>PDF</a:t>
            </a:r>
            <a:r>
              <a:rPr b="1" lang="ja-JP" sz="1100" spc="-1" strike="noStrike">
                <a:solidFill>
                  <a:srgbClr val="1a1f36"/>
                </a:solidFill>
                <a:latin typeface="Calibri"/>
                <a:ea typeface="Calibri"/>
              </a:rPr>
              <a:t>出力                         ✕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731520" y="1645920"/>
            <a:ext cx="2285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3a4560"/>
                </a:solidFill>
                <a:latin typeface="Calibri"/>
                <a:ea typeface="Calibri"/>
              </a:rPr>
              <a:t>用紙サイズ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7"/>
          <p:cNvSpPr/>
          <p:nvPr/>
        </p:nvSpPr>
        <p:spPr>
          <a:xfrm>
            <a:off x="731520" y="1920240"/>
            <a:ext cx="593640" cy="291960"/>
          </a:xfrm>
          <a:prstGeom prst="rect">
            <a:avLst/>
          </a:prstGeom>
          <a:solidFill>
            <a:srgbClr val="e8f4fd"/>
          </a:solidFill>
          <a:ln w="190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731520" y="1920240"/>
            <a:ext cx="593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65a82"/>
                </a:solidFill>
                <a:latin typeface="Calibri"/>
                <a:ea typeface="Calibri"/>
              </a:rPr>
              <a:t>A4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1463040" y="1920240"/>
            <a:ext cx="59364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1463040" y="1920240"/>
            <a:ext cx="593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6a7"/>
                </a:solidFill>
                <a:latin typeface="Calibri"/>
                <a:ea typeface="Calibri"/>
              </a:rPr>
              <a:t>A3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1"/>
          <p:cNvSpPr/>
          <p:nvPr/>
        </p:nvSpPr>
        <p:spPr>
          <a:xfrm>
            <a:off x="2194560" y="1920240"/>
            <a:ext cx="59364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2194560" y="1920240"/>
            <a:ext cx="593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6a7"/>
                </a:solidFill>
                <a:latin typeface="Calibri"/>
                <a:ea typeface="Calibri"/>
              </a:rPr>
              <a:t>B4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731520" y="2331720"/>
            <a:ext cx="2285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3a4560"/>
                </a:solidFill>
                <a:latin typeface="Calibri"/>
                <a:ea typeface="Calibri"/>
              </a:rPr>
              <a:t>プレビュー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731520" y="2606040"/>
            <a:ext cx="502200" cy="685080"/>
          </a:xfrm>
          <a:prstGeom prst="rect">
            <a:avLst/>
          </a:prstGeom>
          <a:solidFill>
            <a:srgbClr val="f6f8fb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5"/>
          <p:cNvSpPr/>
          <p:nvPr/>
        </p:nvSpPr>
        <p:spPr>
          <a:xfrm>
            <a:off x="731520" y="283464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896a7"/>
                </a:solidFill>
                <a:latin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6"/>
          <p:cNvSpPr/>
          <p:nvPr/>
        </p:nvSpPr>
        <p:spPr>
          <a:xfrm>
            <a:off x="1371600" y="2606040"/>
            <a:ext cx="502200" cy="685080"/>
          </a:xfrm>
          <a:prstGeom prst="rect">
            <a:avLst/>
          </a:prstGeom>
          <a:solidFill>
            <a:srgbClr val="f6f8fb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1371600" y="283464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896a7"/>
                </a:solidFill>
                <a:latin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8"/>
          <p:cNvSpPr/>
          <p:nvPr/>
        </p:nvSpPr>
        <p:spPr>
          <a:xfrm>
            <a:off x="731520" y="3520440"/>
            <a:ext cx="1142280" cy="36504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19"/>
          <p:cNvSpPr/>
          <p:nvPr/>
        </p:nvSpPr>
        <p:spPr>
          <a:xfrm>
            <a:off x="731520" y="3520440"/>
            <a:ext cx="1142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📄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PDF</a:t>
            </a:r>
            <a:r>
              <a:rPr b="1" lang="ja-JP" sz="1000" spc="-1" strike="noStrike">
                <a:solidFill>
                  <a:srgbClr val="ffffff"/>
                </a:solidFill>
                <a:latin typeface="Calibri"/>
                <a:ea typeface="Calibri"/>
              </a:rPr>
              <a:t>出力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0"/>
          <p:cNvSpPr/>
          <p:nvPr/>
        </p:nvSpPr>
        <p:spPr>
          <a:xfrm>
            <a:off x="1965960" y="3520440"/>
            <a:ext cx="1142280" cy="3650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21"/>
          <p:cNvSpPr/>
          <p:nvPr/>
        </p:nvSpPr>
        <p:spPr>
          <a:xfrm>
            <a:off x="1965960" y="3520440"/>
            <a:ext cx="1142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🖨 </a:t>
            </a:r>
            <a:r>
              <a:rPr b="1" lang="ja-JP" sz="1000" spc="-1" strike="noStrike">
                <a:solidFill>
                  <a:srgbClr val="ffffff"/>
                </a:solidFill>
                <a:latin typeface="Calibri"/>
                <a:ea typeface="Calibri"/>
              </a:rPr>
              <a:t>印刷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2"/>
          <p:cNvSpPr/>
          <p:nvPr/>
        </p:nvSpPr>
        <p:spPr>
          <a:xfrm>
            <a:off x="3749040" y="1097280"/>
            <a:ext cx="4937040" cy="3199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3"/>
          <p:cNvSpPr/>
          <p:nvPr/>
        </p:nvSpPr>
        <p:spPr>
          <a:xfrm>
            <a:off x="3749040" y="1097280"/>
            <a:ext cx="54000" cy="31996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24"/>
          <p:cNvSpPr/>
          <p:nvPr/>
        </p:nvSpPr>
        <p:spPr>
          <a:xfrm>
            <a:off x="4023360" y="123444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600" spc="-1" strike="noStrike">
                <a:solidFill>
                  <a:srgbClr val="1e2761"/>
                </a:solidFill>
                <a:latin typeface="Calibri"/>
                <a:ea typeface="Calibri"/>
              </a:rPr>
              <a:t>この画面でできること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5"/>
          <p:cNvSpPr/>
          <p:nvPr/>
        </p:nvSpPr>
        <p:spPr>
          <a:xfrm>
            <a:off x="4023360" y="1645920"/>
            <a:ext cx="438840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a4560"/>
                </a:solidFill>
                <a:latin typeface="Calibri"/>
                <a:ea typeface="Calibri"/>
              </a:rPr>
              <a:t>PDF</a:t>
            </a: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ファイルとして保存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作成したマニュアルを</a:t>
            </a: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PDF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ファイルとしてスマホに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ダウンロードできます。メールで共有も可能です。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そのまま印刷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印刷ボタンを押すだけで、プリンターから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直接印刷できます。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用紙サイズの選択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A4 / A3 / B4 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の</a:t>
            </a: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3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種類から選べます。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ja-JP" sz="1100" spc="-1" strike="noStrike">
                <a:solidFill>
                  <a:srgbClr val="0891b2"/>
                </a:solidFill>
                <a:latin typeface="Calibri"/>
                <a:ea typeface="Calibri"/>
              </a:rPr>
              <a:t>出力前にプレビューで仕上がりを確認できます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⑥ </a:t>
            </a: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ファイル管理画面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3"/>
          <p:cNvSpPr/>
          <p:nvPr/>
        </p:nvSpPr>
        <p:spPr>
          <a:xfrm>
            <a:off x="548640" y="1097280"/>
            <a:ext cx="2742480" cy="365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4"/>
          <p:cNvSpPr/>
          <p:nvPr/>
        </p:nvSpPr>
        <p:spPr>
          <a:xfrm>
            <a:off x="548640" y="1097280"/>
            <a:ext cx="2742480" cy="4107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685800" y="112464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← </a:t>
            </a:r>
            <a:r>
              <a:rPr b="1" lang="ja-JP" sz="1000" spc="-1" strike="noStrike">
                <a:solidFill>
                  <a:srgbClr val="ffffff"/>
                </a:solidFill>
                <a:latin typeface="Calibri"/>
                <a:ea typeface="Calibri"/>
              </a:rPr>
              <a:t>ファイル一覧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6"/>
          <p:cNvSpPr/>
          <p:nvPr/>
        </p:nvSpPr>
        <p:spPr>
          <a:xfrm>
            <a:off x="731520" y="1645920"/>
            <a:ext cx="237672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7"/>
          <p:cNvSpPr/>
          <p:nvPr/>
        </p:nvSpPr>
        <p:spPr>
          <a:xfrm>
            <a:off x="777240" y="1645920"/>
            <a:ext cx="2193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896a7"/>
                </a:solidFill>
                <a:latin typeface="Calibri"/>
                <a:ea typeface="Calibri"/>
              </a:rPr>
              <a:t>🔍 </a:t>
            </a:r>
            <a:r>
              <a:rPr b="0" lang="ja-JP" sz="800" spc="-1" strike="noStrike">
                <a:solidFill>
                  <a:srgbClr val="8896a7"/>
                </a:solidFill>
                <a:latin typeface="Calibri"/>
                <a:ea typeface="Calibri"/>
              </a:rPr>
              <a:t>タイトルで検索</a:t>
            </a:r>
            <a:r>
              <a:rPr b="0" lang="en-US" sz="800" spc="-1" strike="noStrike">
                <a:solidFill>
                  <a:srgbClr val="8896a7"/>
                </a:solidFill>
                <a:latin typeface="Calibri"/>
                <a:ea typeface="Calibri"/>
              </a:rPr>
              <a:t>...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8"/>
          <p:cNvSpPr/>
          <p:nvPr/>
        </p:nvSpPr>
        <p:spPr>
          <a:xfrm>
            <a:off x="731520" y="2057400"/>
            <a:ext cx="712440" cy="200520"/>
          </a:xfrm>
          <a:prstGeom prst="rect">
            <a:avLst/>
          </a:prstGeom>
          <a:solidFill>
            <a:srgbClr val="e8f4fd"/>
          </a:solidFill>
          <a:ln w="63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9"/>
          <p:cNvSpPr/>
          <p:nvPr/>
        </p:nvSpPr>
        <p:spPr>
          <a:xfrm>
            <a:off x="731520" y="2057400"/>
            <a:ext cx="712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700" spc="-1" strike="noStrike">
                <a:solidFill>
                  <a:srgbClr val="065a82"/>
                </a:solidFill>
                <a:latin typeface="Calibri"/>
                <a:ea typeface="Calibri"/>
              </a:rPr>
              <a:t>更新日順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0"/>
          <p:cNvSpPr/>
          <p:nvPr/>
        </p:nvSpPr>
        <p:spPr>
          <a:xfrm>
            <a:off x="1536120" y="2057400"/>
            <a:ext cx="712440" cy="20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1"/>
          <p:cNvSpPr/>
          <p:nvPr/>
        </p:nvSpPr>
        <p:spPr>
          <a:xfrm>
            <a:off x="1536120" y="2057400"/>
            <a:ext cx="712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700" spc="-1" strike="noStrike">
                <a:solidFill>
                  <a:srgbClr val="8896a7"/>
                </a:solidFill>
                <a:latin typeface="Calibri"/>
                <a:ea typeface="Calibri"/>
              </a:rPr>
              <a:t>作成日順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2"/>
          <p:cNvSpPr/>
          <p:nvPr/>
        </p:nvSpPr>
        <p:spPr>
          <a:xfrm>
            <a:off x="2340720" y="2057400"/>
            <a:ext cx="712440" cy="20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3"/>
          <p:cNvSpPr/>
          <p:nvPr/>
        </p:nvSpPr>
        <p:spPr>
          <a:xfrm>
            <a:off x="2340720" y="2057400"/>
            <a:ext cx="712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700" spc="-1" strike="noStrike">
                <a:solidFill>
                  <a:srgbClr val="8896a7"/>
                </a:solidFill>
                <a:latin typeface="Calibri"/>
                <a:ea typeface="Calibri"/>
              </a:rPr>
              <a:t>タイトル順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4"/>
          <p:cNvSpPr/>
          <p:nvPr/>
        </p:nvSpPr>
        <p:spPr>
          <a:xfrm>
            <a:off x="731520" y="2423160"/>
            <a:ext cx="237672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5"/>
          <p:cNvSpPr/>
          <p:nvPr/>
        </p:nvSpPr>
        <p:spPr>
          <a:xfrm>
            <a:off x="777240" y="2450520"/>
            <a:ext cx="319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📄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6"/>
          <p:cNvSpPr/>
          <p:nvPr/>
        </p:nvSpPr>
        <p:spPr>
          <a:xfrm>
            <a:off x="1097280" y="2459880"/>
            <a:ext cx="1736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客室清掃マニュアル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7"/>
          <p:cNvSpPr/>
          <p:nvPr/>
        </p:nvSpPr>
        <p:spPr>
          <a:xfrm>
            <a:off x="1097280" y="2660760"/>
            <a:ext cx="1736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8896a7"/>
                </a:solidFill>
                <a:latin typeface="Calibri"/>
                <a:ea typeface="Calibri"/>
              </a:rPr>
              <a:t>04/15 · 3</a:t>
            </a:r>
            <a:r>
              <a:rPr b="0" lang="ja-JP" sz="700" spc="-1" strike="noStrike">
                <a:solidFill>
                  <a:srgbClr val="8896a7"/>
                </a:solidFill>
                <a:latin typeface="Calibri"/>
                <a:ea typeface="Calibri"/>
              </a:rPr>
              <a:t>ページ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8"/>
          <p:cNvSpPr/>
          <p:nvPr/>
        </p:nvSpPr>
        <p:spPr>
          <a:xfrm>
            <a:off x="731520" y="2971800"/>
            <a:ext cx="237672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9"/>
          <p:cNvSpPr/>
          <p:nvPr/>
        </p:nvSpPr>
        <p:spPr>
          <a:xfrm>
            <a:off x="777240" y="2999160"/>
            <a:ext cx="319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📄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0"/>
          <p:cNvSpPr/>
          <p:nvPr/>
        </p:nvSpPr>
        <p:spPr>
          <a:xfrm>
            <a:off x="1097280" y="3008520"/>
            <a:ext cx="1736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基本手順書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21"/>
          <p:cNvSpPr/>
          <p:nvPr/>
        </p:nvSpPr>
        <p:spPr>
          <a:xfrm>
            <a:off x="1097280" y="3209400"/>
            <a:ext cx="1736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8896a7"/>
                </a:solidFill>
                <a:latin typeface="Calibri"/>
                <a:ea typeface="Calibri"/>
              </a:rPr>
              <a:t>04/14 · 2</a:t>
            </a:r>
            <a:r>
              <a:rPr b="0" lang="ja-JP" sz="700" spc="-1" strike="noStrike">
                <a:solidFill>
                  <a:srgbClr val="8896a7"/>
                </a:solidFill>
                <a:latin typeface="Calibri"/>
                <a:ea typeface="Calibri"/>
              </a:rPr>
              <a:t>ページ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22"/>
          <p:cNvSpPr/>
          <p:nvPr/>
        </p:nvSpPr>
        <p:spPr>
          <a:xfrm>
            <a:off x="731520" y="3520440"/>
            <a:ext cx="237672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3"/>
          <p:cNvSpPr/>
          <p:nvPr/>
        </p:nvSpPr>
        <p:spPr>
          <a:xfrm>
            <a:off x="777240" y="3547800"/>
            <a:ext cx="319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📄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4"/>
          <p:cNvSpPr/>
          <p:nvPr/>
        </p:nvSpPr>
        <p:spPr>
          <a:xfrm>
            <a:off x="1097280" y="3557160"/>
            <a:ext cx="1736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900" spc="-1" strike="noStrike">
                <a:solidFill>
                  <a:srgbClr val="1a1f36"/>
                </a:solidFill>
                <a:latin typeface="Calibri"/>
                <a:ea typeface="Calibri"/>
              </a:rPr>
              <a:t>衛生チェックリスト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25"/>
          <p:cNvSpPr/>
          <p:nvPr/>
        </p:nvSpPr>
        <p:spPr>
          <a:xfrm>
            <a:off x="1097280" y="3758040"/>
            <a:ext cx="1736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8896a7"/>
                </a:solidFill>
                <a:latin typeface="Calibri"/>
                <a:ea typeface="Calibri"/>
              </a:rPr>
              <a:t>04/13 · 2</a:t>
            </a:r>
            <a:r>
              <a:rPr b="0" lang="ja-JP" sz="700" spc="-1" strike="noStrike">
                <a:solidFill>
                  <a:srgbClr val="8896a7"/>
                </a:solidFill>
                <a:latin typeface="Calibri"/>
                <a:ea typeface="Calibri"/>
              </a:rPr>
              <a:t>ページ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26"/>
          <p:cNvSpPr/>
          <p:nvPr/>
        </p:nvSpPr>
        <p:spPr>
          <a:xfrm>
            <a:off x="3749040" y="1097280"/>
            <a:ext cx="4937040" cy="365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27"/>
          <p:cNvSpPr/>
          <p:nvPr/>
        </p:nvSpPr>
        <p:spPr>
          <a:xfrm>
            <a:off x="3749040" y="1097280"/>
            <a:ext cx="54000" cy="36568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8"/>
          <p:cNvSpPr/>
          <p:nvPr/>
        </p:nvSpPr>
        <p:spPr>
          <a:xfrm>
            <a:off x="4023360" y="123444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600" spc="-1" strike="noStrike">
                <a:solidFill>
                  <a:srgbClr val="1e2761"/>
                </a:solidFill>
                <a:latin typeface="Calibri"/>
                <a:ea typeface="Calibri"/>
              </a:rPr>
              <a:t>この画面でできること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9"/>
          <p:cNvSpPr/>
          <p:nvPr/>
        </p:nvSpPr>
        <p:spPr>
          <a:xfrm>
            <a:off x="4023360" y="1645920"/>
            <a:ext cx="438840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保存済みマニュアルの一覧表示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タイトル・更新日・ページ数が一目でわかります。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タップするだけで編集を再開できます。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検索機能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タイトルを入力して、目的のファイルをすばやく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見つけられます。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並び替え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更新日順・作成日順・タイトル順で並べ替え可能。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3a4560"/>
                </a:solidFill>
                <a:latin typeface="Calibri"/>
                <a:ea typeface="Calibri"/>
              </a:rPr>
              <a:t>ファイルの複製・削除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長押しでメニューが表示されます。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お見積もり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12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3"/>
          <p:cNvSpPr/>
          <p:nvPr/>
        </p:nvSpPr>
        <p:spPr>
          <a:xfrm>
            <a:off x="548640" y="1097280"/>
            <a:ext cx="8046000" cy="1370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4"/>
          <p:cNvSpPr/>
          <p:nvPr/>
        </p:nvSpPr>
        <p:spPr>
          <a:xfrm>
            <a:off x="548640" y="1097280"/>
            <a:ext cx="8046000" cy="54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5"/>
          <p:cNvSpPr/>
          <p:nvPr/>
        </p:nvSpPr>
        <p:spPr>
          <a:xfrm>
            <a:off x="731520" y="128016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400" spc="-1" strike="noStrike">
                <a:solidFill>
                  <a:srgbClr val="1e2761"/>
                </a:solidFill>
                <a:latin typeface="Calibri"/>
                <a:ea typeface="Calibri"/>
              </a:rPr>
              <a:t>開発費用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6"/>
          <p:cNvSpPr/>
          <p:nvPr/>
        </p:nvSpPr>
        <p:spPr>
          <a:xfrm>
            <a:off x="1980000" y="1143000"/>
            <a:ext cx="5220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065a82"/>
                </a:solidFill>
                <a:latin typeface="Calibri"/>
                <a:ea typeface="Calibri"/>
              </a:rPr>
              <a:t>350</a:t>
            </a:r>
            <a:r>
              <a:rPr b="1" lang="ja-JP" sz="4400" spc="-1" strike="noStrike">
                <a:solidFill>
                  <a:srgbClr val="065a82"/>
                </a:solidFill>
                <a:latin typeface="Calibri"/>
                <a:ea typeface="Calibri"/>
              </a:rPr>
              <a:t>万円～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7"/>
          <p:cNvSpPr/>
          <p:nvPr/>
        </p:nvSpPr>
        <p:spPr>
          <a:xfrm>
            <a:off x="5760720" y="141732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8"/>
          <p:cNvSpPr/>
          <p:nvPr/>
        </p:nvSpPr>
        <p:spPr>
          <a:xfrm>
            <a:off x="731520" y="18288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30000"/>
              </a:lnSpc>
              <a:buClr>
                <a:srgbClr val="3a4560"/>
              </a:buClr>
              <a:buFont typeface="Symbol"/>
              <a:buChar char=""/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納品後の保守あり前提のお見積もりです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3a4560"/>
              </a:buClr>
              <a:buFont typeface="Symbol"/>
              <a:buChar char=""/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納品物</a:t>
            </a:r>
            <a:r>
              <a:rPr b="0" lang="en-US" sz="1000" spc="-1" strike="noStrike">
                <a:solidFill>
                  <a:srgbClr val="3a4560"/>
                </a:solidFill>
                <a:latin typeface="Calibri"/>
                <a:ea typeface="Calibri"/>
              </a:rPr>
              <a:t>: </a:t>
            </a: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アプリケーション／操作マニュアル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3a4560"/>
              </a:buClr>
              <a:buFont typeface="Symbol"/>
              <a:buChar char=""/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ミニマム：メールでファイルと</a:t>
            </a:r>
            <a:r>
              <a:rPr b="0" lang="en-US" sz="1000" spc="-1" strike="noStrike">
                <a:solidFill>
                  <a:srgbClr val="3a4560"/>
                </a:solidFill>
                <a:latin typeface="Calibri"/>
                <a:ea typeface="Calibri"/>
              </a:rPr>
              <a:t>PDF</a:t>
            </a: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を配布してダウンロードして使用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9"/>
          <p:cNvSpPr/>
          <p:nvPr/>
        </p:nvSpPr>
        <p:spPr>
          <a:xfrm>
            <a:off x="548640" y="2743200"/>
            <a:ext cx="3839760" cy="1005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0"/>
          <p:cNvSpPr/>
          <p:nvPr/>
        </p:nvSpPr>
        <p:spPr>
          <a:xfrm>
            <a:off x="548640" y="2743200"/>
            <a:ext cx="54000" cy="10051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11"/>
          <p:cNvSpPr/>
          <p:nvPr/>
        </p:nvSpPr>
        <p:spPr>
          <a:xfrm>
            <a:off x="777240" y="283464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200" spc="-1" strike="noStrike">
                <a:solidFill>
                  <a:srgbClr val="1e2761"/>
                </a:solidFill>
                <a:latin typeface="Calibri"/>
                <a:ea typeface="Calibri"/>
              </a:rPr>
              <a:t>オプション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2"/>
          <p:cNvSpPr/>
          <p:nvPr/>
        </p:nvSpPr>
        <p:spPr>
          <a:xfrm>
            <a:off x="777240" y="3108960"/>
            <a:ext cx="3382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設計書・テスト仕様書等の追加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ja-JP" sz="1400" spc="-1" strike="noStrike">
                <a:solidFill>
                  <a:srgbClr val="065a82"/>
                </a:solidFill>
                <a:latin typeface="Calibri"/>
                <a:ea typeface="Calibri"/>
              </a:rPr>
              <a:t>＋</a:t>
            </a: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100</a:t>
            </a:r>
            <a:r>
              <a:rPr b="1" lang="ja-JP" sz="1400" spc="-1" strike="noStrike">
                <a:solidFill>
                  <a:srgbClr val="065a82"/>
                </a:solidFill>
                <a:latin typeface="Calibri"/>
                <a:ea typeface="Calibri"/>
              </a:rPr>
              <a:t>万円（税別）前後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3"/>
          <p:cNvSpPr/>
          <p:nvPr/>
        </p:nvSpPr>
        <p:spPr>
          <a:xfrm>
            <a:off x="4663440" y="2743200"/>
            <a:ext cx="3931200" cy="1005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4"/>
          <p:cNvSpPr/>
          <p:nvPr/>
        </p:nvSpPr>
        <p:spPr>
          <a:xfrm>
            <a:off x="4663440" y="2743200"/>
            <a:ext cx="54000" cy="1005120"/>
          </a:xfrm>
          <a:prstGeom prst="rect">
            <a:avLst/>
          </a:prstGeom>
          <a:solidFill>
            <a:srgbClr val="8896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15"/>
          <p:cNvSpPr/>
          <p:nvPr/>
        </p:nvSpPr>
        <p:spPr>
          <a:xfrm>
            <a:off x="4892040" y="283464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200" spc="-1" strike="noStrike">
                <a:solidFill>
                  <a:srgbClr val="1e2761"/>
                </a:solidFill>
                <a:latin typeface="Calibri"/>
                <a:ea typeface="Calibri"/>
              </a:rPr>
              <a:t>ご参考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6"/>
          <p:cNvSpPr/>
          <p:nvPr/>
        </p:nvSpPr>
        <p:spPr>
          <a:xfrm>
            <a:off x="4892040" y="3108960"/>
            <a:ext cx="3474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6a7"/>
                </a:solidFill>
                <a:latin typeface="Calibri"/>
                <a:ea typeface="Calibri"/>
              </a:rPr>
              <a:t>※ </a:t>
            </a:r>
            <a:r>
              <a:rPr b="0" lang="en-US" sz="1000" spc="-1" strike="noStrike">
                <a:solidFill>
                  <a:srgbClr val="8896a7"/>
                </a:solidFill>
                <a:latin typeface="Calibri"/>
                <a:ea typeface="Calibri"/>
              </a:rPr>
              <a:t>AWS</a:t>
            </a: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等のサーバーを使用する場合は、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6a7"/>
                </a:solidFill>
                <a:latin typeface="Calibri"/>
                <a:ea typeface="Calibri"/>
              </a:rPr>
              <a:t>  </a:t>
            </a: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弊社とは別に月の使用量に応じて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6a7"/>
                </a:solidFill>
                <a:latin typeface="Calibri"/>
                <a:ea typeface="Calibri"/>
              </a:rPr>
              <a:t>  </a:t>
            </a: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費用が掛かります。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4421880" y="1533960"/>
            <a:ext cx="1338120" cy="1209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ja-JP" sz="1050" spc="-1" strike="noStrike">
                <a:solidFill>
                  <a:srgbClr val="000000"/>
                </a:solidFill>
                <a:latin typeface="Arial"/>
              </a:rPr>
              <a:t>（税別）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開発スケジュール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548640" y="100584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600" spc="-1" strike="noStrike">
                <a:solidFill>
                  <a:srgbClr val="065a82"/>
                </a:solidFill>
                <a:latin typeface="Calibri"/>
                <a:ea typeface="Calibri"/>
              </a:rPr>
              <a:t>全体</a:t>
            </a: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: </a:t>
            </a:r>
            <a:r>
              <a:rPr b="1" lang="ja-JP" sz="1600" spc="-1" strike="noStrike">
                <a:solidFill>
                  <a:srgbClr val="065a82"/>
                </a:solidFill>
                <a:latin typeface="Calibri"/>
                <a:ea typeface="Calibri"/>
              </a:rPr>
              <a:t>約</a:t>
            </a: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6</a:t>
            </a:r>
            <a:r>
              <a:rPr b="1" lang="ja-JP" sz="1600" spc="-1" strike="noStrike">
                <a:solidFill>
                  <a:srgbClr val="065a82"/>
                </a:solidFill>
                <a:latin typeface="Calibri"/>
                <a:ea typeface="Calibri"/>
              </a:rPr>
              <a:t>か月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4"/>
          <p:cNvSpPr/>
          <p:nvPr/>
        </p:nvSpPr>
        <p:spPr>
          <a:xfrm>
            <a:off x="548640" y="1800000"/>
            <a:ext cx="1353240" cy="414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548640" y="1824840"/>
            <a:ext cx="1353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r>
              <a:rPr b="1" lang="ja-JP" sz="1100" spc="-1" strike="noStrike">
                <a:solidFill>
                  <a:srgbClr val="ffffff"/>
                </a:solidFill>
                <a:latin typeface="Calibri"/>
                <a:ea typeface="Calibri"/>
              </a:rPr>
              <a:t>か月目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6"/>
          <p:cNvSpPr/>
          <p:nvPr/>
        </p:nvSpPr>
        <p:spPr>
          <a:xfrm>
            <a:off x="548640" y="2381040"/>
            <a:ext cx="1290960" cy="1824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7"/>
          <p:cNvSpPr/>
          <p:nvPr/>
        </p:nvSpPr>
        <p:spPr>
          <a:xfrm>
            <a:off x="610920" y="2463480"/>
            <a:ext cx="116640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065a82"/>
                </a:solidFill>
                <a:latin typeface="Calibri"/>
                <a:ea typeface="Calibri"/>
              </a:rPr>
              <a:t>要件定義・設計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8"/>
          <p:cNvSpPr/>
          <p:nvPr/>
        </p:nvSpPr>
        <p:spPr>
          <a:xfrm>
            <a:off x="610920" y="2754360"/>
            <a:ext cx="1166400" cy="12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お客様と仕様の詳細を決定します。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画面のデザインや機能の内容を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すり合わせます。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9"/>
          <p:cNvSpPr/>
          <p:nvPr/>
        </p:nvSpPr>
        <p:spPr>
          <a:xfrm>
            <a:off x="1952280" y="1800000"/>
            <a:ext cx="2706480" cy="414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1952280" y="1824840"/>
            <a:ext cx="2706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r>
              <a:rPr b="1" lang="ja-JP" sz="1100" spc="-1" strike="noStrike">
                <a:solidFill>
                  <a:srgbClr val="ffffff"/>
                </a:solidFill>
                <a:latin typeface="Calibri"/>
                <a:ea typeface="Calibri"/>
              </a:rPr>
              <a:t>〜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r>
              <a:rPr b="1" lang="ja-JP" sz="1100" spc="-1" strike="noStrike">
                <a:solidFill>
                  <a:srgbClr val="ffffff"/>
                </a:solidFill>
                <a:latin typeface="Calibri"/>
                <a:ea typeface="Calibri"/>
              </a:rPr>
              <a:t>か月目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1"/>
          <p:cNvSpPr/>
          <p:nvPr/>
        </p:nvSpPr>
        <p:spPr>
          <a:xfrm>
            <a:off x="1952280" y="2381040"/>
            <a:ext cx="2644200" cy="1824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12"/>
          <p:cNvSpPr/>
          <p:nvPr/>
        </p:nvSpPr>
        <p:spPr>
          <a:xfrm>
            <a:off x="2013840" y="2463480"/>
            <a:ext cx="252072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0891b2"/>
                </a:solidFill>
                <a:latin typeface="Calibri"/>
                <a:ea typeface="Calibri"/>
              </a:rPr>
              <a:t>開発・単体テスト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3"/>
          <p:cNvSpPr/>
          <p:nvPr/>
        </p:nvSpPr>
        <p:spPr>
          <a:xfrm>
            <a:off x="2013840" y="2754360"/>
            <a:ext cx="2520720" cy="12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アプリの機能を一つずつ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作成し、個別にテストします。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4"/>
          <p:cNvSpPr/>
          <p:nvPr/>
        </p:nvSpPr>
        <p:spPr>
          <a:xfrm>
            <a:off x="4709520" y="1800000"/>
            <a:ext cx="1353240" cy="41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15"/>
          <p:cNvSpPr/>
          <p:nvPr/>
        </p:nvSpPr>
        <p:spPr>
          <a:xfrm>
            <a:off x="4709520" y="1824840"/>
            <a:ext cx="1353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r>
              <a:rPr b="1" lang="ja-JP" sz="1100" spc="-1" strike="noStrike">
                <a:solidFill>
                  <a:srgbClr val="ffffff"/>
                </a:solidFill>
                <a:latin typeface="Calibri"/>
                <a:ea typeface="Calibri"/>
              </a:rPr>
              <a:t>か月目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6"/>
          <p:cNvSpPr/>
          <p:nvPr/>
        </p:nvSpPr>
        <p:spPr>
          <a:xfrm>
            <a:off x="4709520" y="2381040"/>
            <a:ext cx="1291320" cy="1824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17"/>
          <p:cNvSpPr/>
          <p:nvPr/>
        </p:nvSpPr>
        <p:spPr>
          <a:xfrm>
            <a:off x="4771800" y="2463480"/>
            <a:ext cx="116640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10b981"/>
                </a:solidFill>
                <a:latin typeface="Calibri"/>
                <a:ea typeface="Calibri"/>
              </a:rPr>
              <a:t>結合テスト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18"/>
          <p:cNvSpPr/>
          <p:nvPr/>
        </p:nvSpPr>
        <p:spPr>
          <a:xfrm>
            <a:off x="4771800" y="2754360"/>
            <a:ext cx="1166400" cy="12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アプリ全体を通して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動作を確認します。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9"/>
          <p:cNvSpPr/>
          <p:nvPr/>
        </p:nvSpPr>
        <p:spPr>
          <a:xfrm>
            <a:off x="6112800" y="1800000"/>
            <a:ext cx="2706840" cy="414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20"/>
          <p:cNvSpPr/>
          <p:nvPr/>
        </p:nvSpPr>
        <p:spPr>
          <a:xfrm>
            <a:off x="6112800" y="1824840"/>
            <a:ext cx="2706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r>
              <a:rPr b="1" lang="ja-JP" sz="1100" spc="-1" strike="noStrike">
                <a:solidFill>
                  <a:srgbClr val="ffffff"/>
                </a:solidFill>
                <a:latin typeface="Calibri"/>
                <a:ea typeface="Calibri"/>
              </a:rPr>
              <a:t>〜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r>
              <a:rPr b="1" lang="ja-JP" sz="1100" spc="-1" strike="noStrike">
                <a:solidFill>
                  <a:srgbClr val="ffffff"/>
                </a:solidFill>
                <a:latin typeface="Calibri"/>
                <a:ea typeface="Calibri"/>
              </a:rPr>
              <a:t>か月目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21"/>
          <p:cNvSpPr/>
          <p:nvPr/>
        </p:nvSpPr>
        <p:spPr>
          <a:xfrm>
            <a:off x="6112800" y="2381040"/>
            <a:ext cx="2644560" cy="1824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22"/>
          <p:cNvSpPr/>
          <p:nvPr/>
        </p:nvSpPr>
        <p:spPr>
          <a:xfrm>
            <a:off x="6175080" y="2463480"/>
            <a:ext cx="252000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300" spc="-1" strike="noStrike">
                <a:solidFill>
                  <a:srgbClr val="f59e0b"/>
                </a:solidFill>
                <a:latin typeface="Calibri"/>
                <a:ea typeface="Calibri"/>
              </a:rPr>
              <a:t>リリース対応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23"/>
          <p:cNvSpPr/>
          <p:nvPr/>
        </p:nvSpPr>
        <p:spPr>
          <a:xfrm>
            <a:off x="6175080" y="2754360"/>
            <a:ext cx="2520000" cy="12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最終調整・公開準備を行います。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3a4560"/>
                </a:solidFill>
                <a:latin typeface="Calibri"/>
                <a:ea typeface="Calibri"/>
              </a:rPr>
              <a:t>予備期間を含みます。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24"/>
          <p:cNvSpPr/>
          <p:nvPr/>
        </p:nvSpPr>
        <p:spPr>
          <a:xfrm>
            <a:off x="548640" y="4434840"/>
            <a:ext cx="8046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6a7"/>
                </a:solidFill>
                <a:latin typeface="Calibri"/>
                <a:ea typeface="Calibri"/>
              </a:rPr>
              <a:t>※ </a:t>
            </a: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スケジュールは目安です。仕様変更等により前後する場合がございます。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1"/>
          <p:cNvSpPr/>
          <p:nvPr/>
        </p:nvSpPr>
        <p:spPr>
          <a:xfrm>
            <a:off x="548640" y="1371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2400" spc="-1" strike="noStrike">
                <a:solidFill>
                  <a:srgbClr val="ffffff"/>
                </a:solidFill>
                <a:latin typeface="Calibri"/>
                <a:ea typeface="Calibri"/>
              </a:rPr>
              <a:t>補足事項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2"/>
          <p:cNvSpPr/>
          <p:nvPr/>
        </p:nvSpPr>
        <p:spPr>
          <a:xfrm>
            <a:off x="841248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6a7"/>
                </a:solidFill>
                <a:latin typeface="Calibri"/>
              </a:rPr>
              <a:t>14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3"/>
          <p:cNvSpPr/>
          <p:nvPr/>
        </p:nvSpPr>
        <p:spPr>
          <a:xfrm>
            <a:off x="548640" y="1097280"/>
            <a:ext cx="3931200" cy="1553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4"/>
          <p:cNvSpPr/>
          <p:nvPr/>
        </p:nvSpPr>
        <p:spPr>
          <a:xfrm>
            <a:off x="548640" y="1097280"/>
            <a:ext cx="3931200" cy="540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5"/>
          <p:cNvSpPr/>
          <p:nvPr/>
        </p:nvSpPr>
        <p:spPr>
          <a:xfrm>
            <a:off x="731520" y="1234440"/>
            <a:ext cx="3474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💾  </a:t>
            </a:r>
            <a:r>
              <a:rPr b="1" lang="ja-JP" sz="1400" spc="-1" strike="noStrike">
                <a:solidFill>
                  <a:srgbClr val="1e2761"/>
                </a:solidFill>
                <a:latin typeface="Calibri"/>
                <a:ea typeface="Calibri"/>
              </a:rPr>
              <a:t>データの保存先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6"/>
          <p:cNvSpPr/>
          <p:nvPr/>
        </p:nvSpPr>
        <p:spPr>
          <a:xfrm>
            <a:off x="731520" y="1572840"/>
            <a:ext cx="356544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30000"/>
              </a:lnSpc>
              <a:buClr>
                <a:srgbClr val="3a4560"/>
              </a:buClr>
              <a:buFont typeface="Symbol"/>
              <a:buChar char=""/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今のところ未定なので、今後の</a:t>
            </a: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MTG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で決定する必要がございます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7"/>
          <p:cNvSpPr/>
          <p:nvPr/>
        </p:nvSpPr>
        <p:spPr>
          <a:xfrm>
            <a:off x="4754880" y="1097280"/>
            <a:ext cx="3931200" cy="1553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8"/>
          <p:cNvSpPr/>
          <p:nvPr/>
        </p:nvSpPr>
        <p:spPr>
          <a:xfrm>
            <a:off x="4754880" y="1097280"/>
            <a:ext cx="3931200" cy="54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9"/>
          <p:cNvSpPr/>
          <p:nvPr/>
        </p:nvSpPr>
        <p:spPr>
          <a:xfrm>
            <a:off x="4937760" y="1234440"/>
            <a:ext cx="3474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📱  </a:t>
            </a:r>
            <a:r>
              <a:rPr b="1" lang="ja-JP" sz="1400" spc="-1" strike="noStrike">
                <a:solidFill>
                  <a:srgbClr val="1e2761"/>
                </a:solidFill>
                <a:latin typeface="Calibri"/>
                <a:ea typeface="Calibri"/>
              </a:rPr>
              <a:t>対応端末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10"/>
          <p:cNvSpPr/>
          <p:nvPr/>
        </p:nvSpPr>
        <p:spPr>
          <a:xfrm>
            <a:off x="4937760" y="1572840"/>
            <a:ext cx="356544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25000"/>
              </a:lnSpc>
              <a:buClr>
                <a:srgbClr val="3a4560"/>
              </a:buClr>
              <a:buFont typeface="Symbol"/>
              <a:buChar char=""/>
            </a:pPr>
            <a:r>
              <a:rPr b="1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iPhone</a:t>
            </a:r>
            <a:r>
              <a:rPr b="1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（最優先で対応）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5000"/>
              </a:lnSpc>
              <a:buClr>
                <a:srgbClr val="3a4560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3a4560"/>
                </a:solidFill>
                <a:latin typeface="Calibri"/>
                <a:ea typeface="Calibri"/>
              </a:rPr>
              <a:t>Android </a:t>
            </a: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スマートフォン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5000"/>
              </a:lnSpc>
              <a:buClr>
                <a:srgbClr val="3a4560"/>
              </a:buClr>
              <a:buFont typeface="Symbol"/>
              <a:buChar char=""/>
            </a:pPr>
            <a:r>
              <a:rPr b="0" lang="ja-JP" sz="1100" spc="-1" strike="noStrike">
                <a:solidFill>
                  <a:srgbClr val="3a4560"/>
                </a:solidFill>
                <a:latin typeface="Calibri"/>
                <a:ea typeface="Calibri"/>
              </a:rPr>
              <a:t>パソコン（確認用）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スマホのホーム画面に追加すると、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ja-JP" sz="1000" spc="-1" strike="noStrike">
                <a:solidFill>
                  <a:srgbClr val="8896a7"/>
                </a:solidFill>
                <a:latin typeface="Calibri"/>
                <a:ea typeface="Calibri"/>
              </a:rPr>
              <a:t>アプリのアイコンのように使えます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11"/>
          <p:cNvSpPr/>
          <p:nvPr/>
        </p:nvSpPr>
        <p:spPr>
          <a:xfrm>
            <a:off x="548640" y="2926080"/>
            <a:ext cx="8137440" cy="1370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12"/>
          <p:cNvSpPr/>
          <p:nvPr/>
        </p:nvSpPr>
        <p:spPr>
          <a:xfrm>
            <a:off x="548640" y="2926080"/>
            <a:ext cx="8137440" cy="54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13"/>
          <p:cNvSpPr/>
          <p:nvPr/>
        </p:nvSpPr>
        <p:spPr>
          <a:xfrm>
            <a:off x="731520" y="30632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🚀  </a:t>
            </a:r>
            <a:r>
              <a:rPr b="1" lang="ja-JP" sz="1400" spc="-1" strike="noStrike">
                <a:solidFill>
                  <a:srgbClr val="1e2761"/>
                </a:solidFill>
                <a:latin typeface="Calibri"/>
                <a:ea typeface="Calibri"/>
              </a:rPr>
              <a:t>将来の拡張例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4"/>
          <p:cNvSpPr/>
          <p:nvPr/>
        </p:nvSpPr>
        <p:spPr>
          <a:xfrm>
            <a:off x="731520" y="3383280"/>
            <a:ext cx="365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☁️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5"/>
          <p:cNvSpPr/>
          <p:nvPr/>
        </p:nvSpPr>
        <p:spPr>
          <a:xfrm>
            <a:off x="1097280" y="338328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100" spc="-1" strike="noStrike">
                <a:solidFill>
                  <a:srgbClr val="1a1f36"/>
                </a:solidFill>
                <a:latin typeface="Calibri"/>
                <a:ea typeface="Calibri"/>
              </a:rPr>
              <a:t>クラウド保存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16"/>
          <p:cNvSpPr/>
          <p:nvPr/>
        </p:nvSpPr>
        <p:spPr>
          <a:xfrm>
            <a:off x="1097280" y="3630240"/>
            <a:ext cx="1462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900" spc="-1" strike="noStrike">
                <a:solidFill>
                  <a:srgbClr val="8896a7"/>
                </a:solidFill>
                <a:latin typeface="Calibri"/>
                <a:ea typeface="Calibri"/>
              </a:rPr>
              <a:t>インターネット上にデータを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900" spc="-1" strike="noStrike">
                <a:solidFill>
                  <a:srgbClr val="8896a7"/>
                </a:solidFill>
                <a:latin typeface="Calibri"/>
                <a:ea typeface="Calibri"/>
              </a:rPr>
              <a:t>保存し、端末の故障時も安心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20"/>
          <p:cNvSpPr/>
          <p:nvPr/>
        </p:nvSpPr>
        <p:spPr>
          <a:xfrm>
            <a:off x="4754880" y="3383280"/>
            <a:ext cx="365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21"/>
          <p:cNvSpPr/>
          <p:nvPr/>
        </p:nvSpPr>
        <p:spPr>
          <a:xfrm>
            <a:off x="5120640" y="338328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100" spc="-1" strike="noStrike">
                <a:solidFill>
                  <a:srgbClr val="1a1f36"/>
                </a:solidFill>
                <a:latin typeface="Calibri"/>
                <a:ea typeface="Calibri"/>
              </a:rPr>
              <a:t>テンプレート追加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22"/>
          <p:cNvSpPr/>
          <p:nvPr/>
        </p:nvSpPr>
        <p:spPr>
          <a:xfrm>
            <a:off x="5120640" y="3630240"/>
            <a:ext cx="1462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900" spc="-1" strike="noStrike">
                <a:solidFill>
                  <a:srgbClr val="8896a7"/>
                </a:solidFill>
                <a:latin typeface="Calibri"/>
                <a:ea typeface="Calibri"/>
              </a:rPr>
              <a:t>お客様の業務に合わせた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900" spc="-1" strike="noStrike">
                <a:solidFill>
                  <a:srgbClr val="8896a7"/>
                </a:solidFill>
                <a:latin typeface="Calibri"/>
                <a:ea typeface="Calibri"/>
              </a:rPr>
              <a:t>オリジナルテンプレート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23"/>
          <p:cNvSpPr/>
          <p:nvPr/>
        </p:nvSpPr>
        <p:spPr>
          <a:xfrm>
            <a:off x="6766560" y="3383280"/>
            <a:ext cx="365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24"/>
          <p:cNvSpPr/>
          <p:nvPr/>
        </p:nvSpPr>
        <p:spPr>
          <a:xfrm>
            <a:off x="7132320" y="3383280"/>
            <a:ext cx="1462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ja-JP" sz="1100" spc="-1" strike="noStrike">
                <a:solidFill>
                  <a:srgbClr val="1a1f36"/>
                </a:solidFill>
                <a:latin typeface="Calibri"/>
                <a:ea typeface="Calibri"/>
              </a:rPr>
              <a:t>チーム管理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25"/>
          <p:cNvSpPr/>
          <p:nvPr/>
        </p:nvSpPr>
        <p:spPr>
          <a:xfrm>
            <a:off x="7132320" y="3630240"/>
            <a:ext cx="1462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900" spc="-1" strike="noStrike">
                <a:solidFill>
                  <a:srgbClr val="8896a7"/>
                </a:solidFill>
                <a:latin typeface="Calibri"/>
                <a:ea typeface="Calibri"/>
              </a:rPr>
              <a:t>複数メンバーでの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ja-JP" sz="900" spc="-1" strike="noStrike">
                <a:solidFill>
                  <a:srgbClr val="8896a7"/>
                </a:solidFill>
                <a:latin typeface="Calibri"/>
                <a:ea typeface="Calibri"/>
              </a:rPr>
              <a:t>マニュアル共同編集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Docx_Editor_PLUS/1.0.0.0$Windows_X86_64 LibreOffice_project/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2026-04-16T02:09:02Z</dcterms:created>
  <dc:creator>マニュアル作成アプリ開発チーム</dc:creator>
  <dc:description/>
  <dc:language>ja-JP</dc:language>
  <cp:lastModifiedBy/>
  <dcterms:modified xsi:type="dcterms:W3CDTF">2026-04-16T11:52:56Z</dcterms:modified>
  <cp:revision>3</cp:revision>
  <dc:subject>PptxGenJS Presentation</dc:subject>
  <dc:title>マニュアル作成アプリ 画面仕様書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